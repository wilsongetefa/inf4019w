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64" r:id="rId3"/>
    <p:sldId id="261" r:id="rId4"/>
    <p:sldId id="259" r:id="rId5"/>
    <p:sldId id="272" r:id="rId6"/>
    <p:sldId id="260" r:id="rId7"/>
    <p:sldId id="268" r:id="rId8"/>
    <p:sldId id="263" r:id="rId9"/>
    <p:sldId id="262" r:id="rId10"/>
    <p:sldId id="270" r:id="rId11"/>
    <p:sldId id="271" r:id="rId12"/>
    <p:sldId id="269" r:id="rId13"/>
    <p:sldId id="273" r:id="rId14"/>
    <p:sldId id="267" r:id="rId15"/>
  </p:sldIdLst>
  <p:sldSz cx="18288000" cy="10287000"/>
  <p:notesSz cx="6858000" cy="9144000"/>
  <p:embeddedFontLst>
    <p:embeddedFont>
      <p:font typeface="Montserrat" panose="00000500000000000000" pitchFamily="2" charset="0"/>
      <p:regular r:id="rId17"/>
      <p:bold r:id="rId18"/>
      <p:italic r:id="rId19"/>
      <p:boldItalic r:id="rId20"/>
    </p:embeddedFont>
    <p:embeddedFont>
      <p:font typeface="Montserrat Bold" panose="00000800000000000000"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16E150F-03AA-4E13-881D-13F9F601A548}">
          <p14:sldIdLst>
            <p14:sldId id="256"/>
            <p14:sldId id="264"/>
            <p14:sldId id="261"/>
            <p14:sldId id="259"/>
            <p14:sldId id="272"/>
            <p14:sldId id="260"/>
            <p14:sldId id="268"/>
            <p14:sldId id="263"/>
            <p14:sldId id="262"/>
            <p14:sldId id="270"/>
            <p14:sldId id="271"/>
            <p14:sldId id="269"/>
            <p14:sldId id="273"/>
            <p14:sldId id="2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0BC8C-B716-EBEC-758C-7CD33577CFE8}" v="224" dt="2026-04-01T11:00:19.873"/>
    <p1510:client id="{15BF52A6-5274-BA53-62C5-829E56EE1AD0}" v="393" dt="2026-04-01T14:58:51.221"/>
    <p1510:client id="{259CFD2E-BBCD-CBEA-902D-6715E80F8BB8}" v="348" dt="2026-03-31T18:45:52.456"/>
    <p1510:client id="{27FB8EF8-A009-C477-FC94-69DB5A3F1CB7}" v="27" dt="2026-04-01T15:15:01.513"/>
    <p1510:client id="{4C372B71-3A08-4B9F-8342-242A744DDE65}" v="747" dt="2026-04-01T20:51:13.328"/>
    <p1510:client id="{581B0A2A-245B-4968-959C-C1BB0F959803}" v="590" dt="2026-04-01T15:16:31.674"/>
    <p1510:client id="{6DD787BE-1E1E-1715-C916-555EF59A098B}" v="219" vWet="222" dt="2026-04-01T16:57:57.571"/>
    <p1510:client id="{71BE1354-1571-33C2-B93A-4B95C5C71734}" v="170" dt="2026-04-01T20:27:08.511"/>
    <p1510:client id="{74E7E6B6-ED67-DEE1-40EA-9923EECD5B4B}" v="55" dt="2026-04-01T20:55:07.948"/>
    <p1510:client id="{77962C7B-8585-34FF-1AA0-1C43F0D39F36}" v="378" dt="2026-04-01T20:52:17.471"/>
    <p1510:client id="{90CD6AF5-2386-2992-EA5A-DF8BF7F22621}" v="20" dt="2026-04-01T20:37:20.809"/>
    <p1510:client id="{9B5CB7CC-4534-D297-1E71-E15FE0C06C75}" v="748" dt="2026-04-01T19:12:39.087"/>
    <p1510:client id="{9D2ACDA4-A224-19E4-9937-ADD14566674A}" v="12" dt="2026-04-01T10:42:45.103"/>
    <p1510:client id="{B38F9505-F68A-4971-692B-65EDDB870685}" v="3" dt="2026-04-01T16:16:07.061"/>
    <p1510:client id="{E199CE0C-58CA-6C5E-BAC1-DFFC8A981D2D}" v="228" dt="2026-04-01T16:56:59.866"/>
    <p1510:client id="{E318D6DD-2102-A1C2-445A-12D3E02A7B6D}" v="1401" dt="2026-04-01T16:29:30.085"/>
    <p1510:client id="{FB46E434-9140-0611-FD18-3FC6C34051B2}" v="1480" dt="2026-04-01T17:42:01.866"/>
    <p1510:client id="{FCED1A59-B7D2-4004-F014-F03C18025340}" v="729" dt="2026-04-01T16:58:43.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01254-09F5-46E2-B0E5-98A4300A892A}" type="datetimeFigureOut">
              <a:rPr lang="en-ZA" smtClean="0"/>
              <a:t>2026/04/01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5D9E1E-FE82-4D89-AA6F-38F9C712A565}" type="slidenum">
              <a:rPr lang="en-ZA" smtClean="0"/>
              <a:t>‹#›</a:t>
            </a:fld>
            <a:endParaRPr lang="en-ZA"/>
          </a:p>
        </p:txBody>
      </p:sp>
    </p:spTree>
    <p:extLst>
      <p:ext uri="{BB962C8B-B14F-4D97-AF65-F5344CB8AC3E}">
        <p14:creationId xmlns:p14="http://schemas.microsoft.com/office/powerpoint/2010/main" val="427692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71E98-E129-9FCE-9568-8C28815B9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0E393-A8BD-9159-7ED7-FFDB92364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E675C-2231-8CF3-DFED-BC36368E35EE}"/>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i="1"/>
          </a:p>
        </p:txBody>
      </p:sp>
      <p:sp>
        <p:nvSpPr>
          <p:cNvPr id="4" name="Slide Number Placeholder 3">
            <a:extLst>
              <a:ext uri="{FF2B5EF4-FFF2-40B4-BE49-F238E27FC236}">
                <a16:creationId xmlns:a16="http://schemas.microsoft.com/office/drawing/2014/main" id="{811D39BC-95F8-EAA4-39C0-5B9A8B7044F2}"/>
              </a:ext>
            </a:extLst>
          </p:cNvPr>
          <p:cNvSpPr>
            <a:spLocks noGrp="1"/>
          </p:cNvSpPr>
          <p:nvPr>
            <p:ph type="sldNum" sz="quarter" idx="5"/>
          </p:nvPr>
        </p:nvSpPr>
        <p:spPr/>
        <p:txBody>
          <a:bodyPr/>
          <a:lstStyle/>
          <a:p>
            <a:fld id="{A25D9E1E-FE82-4D89-AA6F-38F9C712A565}" type="slidenum">
              <a:rPr lang="en-ZA" smtClean="0"/>
              <a:t>2</a:t>
            </a:fld>
            <a:endParaRPr lang="en-ZA"/>
          </a:p>
        </p:txBody>
      </p:sp>
    </p:spTree>
    <p:extLst>
      <p:ext uri="{BB962C8B-B14F-4D97-AF65-F5344CB8AC3E}">
        <p14:creationId xmlns:p14="http://schemas.microsoft.com/office/powerpoint/2010/main" val="4250326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CABD-82D0-9FA0-C989-9ABAA2AE1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EFC7A-79EC-024D-F539-4685C7A62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C4D9D-036F-CC47-8FD6-51500B7F1909}"/>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i="1"/>
          </a:p>
          <a:p>
            <a:endParaRPr lang="en-ZA"/>
          </a:p>
        </p:txBody>
      </p:sp>
      <p:sp>
        <p:nvSpPr>
          <p:cNvPr id="4" name="Slide Number Placeholder 3">
            <a:extLst>
              <a:ext uri="{FF2B5EF4-FFF2-40B4-BE49-F238E27FC236}">
                <a16:creationId xmlns:a16="http://schemas.microsoft.com/office/drawing/2014/main" id="{51000482-2583-3BA3-7C64-97D3A831F166}"/>
              </a:ext>
            </a:extLst>
          </p:cNvPr>
          <p:cNvSpPr>
            <a:spLocks noGrp="1"/>
          </p:cNvSpPr>
          <p:nvPr>
            <p:ph type="sldNum" sz="quarter" idx="5"/>
          </p:nvPr>
        </p:nvSpPr>
        <p:spPr/>
        <p:txBody>
          <a:bodyPr/>
          <a:lstStyle/>
          <a:p>
            <a:fld id="{A25D9E1E-FE82-4D89-AA6F-38F9C712A565}" type="slidenum">
              <a:rPr lang="en-ZA" smtClean="0"/>
              <a:t>3</a:t>
            </a:fld>
            <a:endParaRPr lang="en-ZA"/>
          </a:p>
        </p:txBody>
      </p:sp>
    </p:spTree>
    <p:extLst>
      <p:ext uri="{BB962C8B-B14F-4D97-AF65-F5344CB8AC3E}">
        <p14:creationId xmlns:p14="http://schemas.microsoft.com/office/powerpoint/2010/main" val="899428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F7B68-E1D6-DCE9-4D4B-3D7C2753D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B9BBB-9FCA-006B-3943-EF3EE1C7F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816C1-F63D-A4F7-176C-4EFE49D2741A}"/>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i="1"/>
          </a:p>
          <a:p>
            <a:endParaRPr lang="en-ZA"/>
          </a:p>
        </p:txBody>
      </p:sp>
      <p:sp>
        <p:nvSpPr>
          <p:cNvPr id="4" name="Slide Number Placeholder 3">
            <a:extLst>
              <a:ext uri="{FF2B5EF4-FFF2-40B4-BE49-F238E27FC236}">
                <a16:creationId xmlns:a16="http://schemas.microsoft.com/office/drawing/2014/main" id="{64CC4BCE-E552-6A4E-477D-76BBA4EFFD96}"/>
              </a:ext>
            </a:extLst>
          </p:cNvPr>
          <p:cNvSpPr>
            <a:spLocks noGrp="1"/>
          </p:cNvSpPr>
          <p:nvPr>
            <p:ph type="sldNum" sz="quarter" idx="5"/>
          </p:nvPr>
        </p:nvSpPr>
        <p:spPr/>
        <p:txBody>
          <a:bodyPr/>
          <a:lstStyle/>
          <a:p>
            <a:fld id="{A25D9E1E-FE82-4D89-AA6F-38F9C712A565}" type="slidenum">
              <a:rPr lang="en-ZA" smtClean="0"/>
              <a:t>5</a:t>
            </a:fld>
            <a:endParaRPr lang="en-ZA"/>
          </a:p>
        </p:txBody>
      </p:sp>
    </p:spTree>
    <p:extLst>
      <p:ext uri="{BB962C8B-B14F-4D97-AF65-F5344CB8AC3E}">
        <p14:creationId xmlns:p14="http://schemas.microsoft.com/office/powerpoint/2010/main" val="3501983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1"/>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a:t>Talking notes: </a:t>
            </a:r>
            <a:r>
              <a:rPr lang="en-ZA" sz="1200"/>
              <a:t>CVE-2026-21533 is a critical </a:t>
            </a:r>
            <a:r>
              <a:rPr lang="en-ZA" sz="1200" b="1"/>
              <a:t>Elevation of Privilege (</a:t>
            </a:r>
            <a:r>
              <a:rPr lang="en-ZA" sz="1200" b="1" err="1"/>
              <a:t>EoP</a:t>
            </a:r>
            <a:r>
              <a:rPr lang="en-ZA" sz="1200" b="1"/>
              <a:t>)</a:t>
            </a:r>
            <a:r>
              <a:rPr lang="en-ZA" sz="1200"/>
              <a:t> vulnerability in Windows Remote Desktop Services (RDS). It was disclosed in February 2026 and was identified as being actively exploited in the wild as a "zero-day" before patches were available.</a:t>
            </a:r>
          </a:p>
          <a:p>
            <a:pPr marL="285750" lvl="0" indent="-285750">
              <a:buFont typeface="Arial" panose="020B0604020202020204" pitchFamily="34" charset="0"/>
              <a:buChar char="•"/>
            </a:pPr>
            <a:endParaRPr lang="en-ZA" b="1"/>
          </a:p>
          <a:p>
            <a:pPr marL="285750" lvl="0" indent="-285750">
              <a:buFont typeface="Arial" panose="020B0604020202020204" pitchFamily="34" charset="0"/>
              <a:buChar char="•"/>
            </a:pPr>
            <a:r>
              <a:rPr lang="en-ZA" b="1"/>
              <a:t>The Mechanism:</a:t>
            </a:r>
            <a:r>
              <a:rPr lang="en-ZA"/>
              <a:t> The flaw allows a locally authenticated attacker (someone who already has a low-privilege account on the machine) to manipulate a specific service configuration registry key under the </a:t>
            </a:r>
            <a:r>
              <a:rPr lang="en-ZA" err="1"/>
              <a:t>TermService</a:t>
            </a:r>
            <a:r>
              <a:rPr lang="en-ZA"/>
              <a:t> (the service name for Remote Desktop).</a:t>
            </a:r>
          </a:p>
          <a:p>
            <a:pPr marL="285750" lvl="0" indent="-285750">
              <a:buFont typeface="Arial" panose="020B0604020202020204" pitchFamily="34" charset="0"/>
              <a:buChar char="•"/>
            </a:pPr>
            <a:r>
              <a:rPr lang="en-ZA" b="1"/>
              <a:t>The Exploit:</a:t>
            </a:r>
            <a:r>
              <a:rPr lang="en-ZA"/>
              <a:t> An attacker can replace a legitimate service configuration key with a malicious, attacker-controlled key. Because the system does not properly validate the permissions or the source of this modification, the service executes with the updated (malicious) configuration.</a:t>
            </a:r>
          </a:p>
          <a:p>
            <a:pPr marL="285750" lvl="0" indent="-285750">
              <a:buFont typeface="Arial" panose="020B0604020202020204" pitchFamily="34" charset="0"/>
              <a:buChar char="•"/>
            </a:pPr>
            <a:r>
              <a:rPr lang="en-ZA" b="1"/>
              <a:t>The Result:</a:t>
            </a:r>
            <a:r>
              <a:rPr lang="en-ZA"/>
              <a:t> This exploit allows the attacker to escalate their privileges to </a:t>
            </a:r>
            <a:r>
              <a:rPr lang="en-ZA" b="1"/>
              <a:t>SYSTEM</a:t>
            </a:r>
            <a:r>
              <a:rPr lang="en-ZA"/>
              <a:t> level—the highest level of administrative authority in Windows. Once privileges are escalated an attacker can perform any action, such as adding new users to the "Administrators" group, installing persistent malware, or accessing and extracting sensitive data across the entire network.</a:t>
            </a:r>
          </a:p>
          <a:p>
            <a:endParaRPr lang="en-ZA"/>
          </a:p>
        </p:txBody>
      </p:sp>
      <p:sp>
        <p:nvSpPr>
          <p:cNvPr id="4" name="Slide Number Placeholder 3"/>
          <p:cNvSpPr>
            <a:spLocks noGrp="1"/>
          </p:cNvSpPr>
          <p:nvPr>
            <p:ph type="sldNum" sz="quarter" idx="5"/>
          </p:nvPr>
        </p:nvSpPr>
        <p:spPr/>
        <p:txBody>
          <a:bodyPr/>
          <a:lstStyle/>
          <a:p>
            <a:fld id="{A25D9E1E-FE82-4D89-AA6F-38F9C712A565}" type="slidenum">
              <a:rPr lang="en-ZA" smtClean="0"/>
              <a:t>6</a:t>
            </a:fld>
            <a:endParaRPr lang="en-ZA"/>
          </a:p>
        </p:txBody>
      </p:sp>
    </p:spTree>
    <p:extLst>
      <p:ext uri="{BB962C8B-B14F-4D97-AF65-F5344CB8AC3E}">
        <p14:creationId xmlns:p14="http://schemas.microsoft.com/office/powerpoint/2010/main" val="640874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05735-79E6-8BB7-F7D0-E1C0B8BCD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8878A-1C78-78FC-3601-2432F0805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2E16E-9142-5605-B48F-9EA48C6FB1C9}"/>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a:t>NB: </a:t>
            </a:r>
            <a:r>
              <a:rPr lang="en-ZA" sz="1200" i="1"/>
              <a:t>This infographic is to be done together on call when we ALL compile the presentation, ONE person is to generate the graphics, ensure to save the script from the AI version, date time etc….</a:t>
            </a:r>
          </a:p>
          <a:p>
            <a:pPr marL="285750" lvl="0" indent="-285750">
              <a:buFont typeface="Arial" panose="020B0604020202020204" pitchFamily="34" charset="0"/>
              <a:buChar char="•"/>
            </a:pPr>
            <a:endParaRPr lang="en-ZA" b="1"/>
          </a:p>
          <a:p>
            <a:pPr marL="285750" lvl="0" indent="-285750">
              <a:buFont typeface="Arial" panose="020B0604020202020204" pitchFamily="34" charset="0"/>
              <a:buChar char="•"/>
            </a:pPr>
            <a:endParaRPr lang="en-ZA" b="1"/>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a:t>Talking notes: </a:t>
            </a:r>
            <a:r>
              <a:rPr lang="en-ZA" sz="1200"/>
              <a:t>CVE-2026-21533 is a critical </a:t>
            </a:r>
            <a:r>
              <a:rPr lang="en-ZA" sz="1200" b="1"/>
              <a:t>Elevation of Privilege (</a:t>
            </a:r>
            <a:r>
              <a:rPr lang="en-ZA" sz="1200" b="1" err="1"/>
              <a:t>EoP</a:t>
            </a:r>
            <a:r>
              <a:rPr lang="en-ZA" sz="1200" b="1"/>
              <a:t>)</a:t>
            </a:r>
            <a:r>
              <a:rPr lang="en-ZA" sz="1200"/>
              <a:t> vulnerability in Windows Remote Desktop Services (RDS). It was disclosed in February 2026 and was identified as being actively exploited in the wild as a "zero-day" before patches were available.</a:t>
            </a:r>
          </a:p>
          <a:p>
            <a:pPr marL="285750" lvl="0" indent="-285750">
              <a:buFont typeface="Arial" panose="020B0604020202020204" pitchFamily="34" charset="0"/>
              <a:buChar char="•"/>
            </a:pPr>
            <a:endParaRPr lang="en-ZA" b="1"/>
          </a:p>
          <a:p>
            <a:pPr marL="285750" lvl="0" indent="-285750">
              <a:buFont typeface="Arial" panose="020B0604020202020204" pitchFamily="34" charset="0"/>
              <a:buChar char="•"/>
            </a:pPr>
            <a:r>
              <a:rPr lang="en-ZA" b="1"/>
              <a:t>The Mechanism:</a:t>
            </a:r>
            <a:r>
              <a:rPr lang="en-ZA"/>
              <a:t> The flaw allows a locally authenticated attacker (someone who already has a low-privilege account on the machine) to manipulate a specific service configuration registry key under the </a:t>
            </a:r>
            <a:r>
              <a:rPr lang="en-ZA" err="1"/>
              <a:t>TermService</a:t>
            </a:r>
            <a:r>
              <a:rPr lang="en-ZA"/>
              <a:t> (the service name for Remote Desktop).</a:t>
            </a:r>
          </a:p>
          <a:p>
            <a:pPr marL="285750" lvl="0" indent="-285750">
              <a:buFont typeface="Arial" panose="020B0604020202020204" pitchFamily="34" charset="0"/>
              <a:buChar char="•"/>
            </a:pPr>
            <a:r>
              <a:rPr lang="en-ZA" b="1"/>
              <a:t>The Exploit:</a:t>
            </a:r>
            <a:r>
              <a:rPr lang="en-ZA"/>
              <a:t> An attacker can replace a legitimate service configuration key with a malicious, attacker-controlled key. Because the system does not properly validate the permissions or the source of this modification, the service executes with the updated (malicious) configuration.</a:t>
            </a:r>
          </a:p>
          <a:p>
            <a:pPr marL="285750" lvl="0" indent="-285750">
              <a:buFont typeface="Arial" panose="020B0604020202020204" pitchFamily="34" charset="0"/>
              <a:buChar char="•"/>
            </a:pPr>
            <a:r>
              <a:rPr lang="en-ZA" b="1"/>
              <a:t>The Result:</a:t>
            </a:r>
            <a:r>
              <a:rPr lang="en-ZA"/>
              <a:t> This exploit allows the attacker to escalate their privileges to </a:t>
            </a:r>
            <a:r>
              <a:rPr lang="en-ZA" b="1"/>
              <a:t>SYSTEM</a:t>
            </a:r>
            <a:r>
              <a:rPr lang="en-ZA"/>
              <a:t> level—the highest level of administrative authority in Windows. Once privileges are escalated an attacker can perform any action, such as adding new users to the "Administrators" group, installing persistent malware, or accessing and extracting sensitive data across the entire network.</a:t>
            </a:r>
          </a:p>
          <a:p>
            <a:endParaRPr lang="en-ZA"/>
          </a:p>
        </p:txBody>
      </p:sp>
      <p:sp>
        <p:nvSpPr>
          <p:cNvPr id="4" name="Slide Number Placeholder 3">
            <a:extLst>
              <a:ext uri="{FF2B5EF4-FFF2-40B4-BE49-F238E27FC236}">
                <a16:creationId xmlns:a16="http://schemas.microsoft.com/office/drawing/2014/main" id="{B108E9F1-F073-20B7-3739-809E4F6BF6E2}"/>
              </a:ext>
            </a:extLst>
          </p:cNvPr>
          <p:cNvSpPr>
            <a:spLocks noGrp="1"/>
          </p:cNvSpPr>
          <p:nvPr>
            <p:ph type="sldNum" sz="quarter" idx="5"/>
          </p:nvPr>
        </p:nvSpPr>
        <p:spPr/>
        <p:txBody>
          <a:bodyPr/>
          <a:lstStyle/>
          <a:p>
            <a:fld id="{A25D9E1E-FE82-4D89-AA6F-38F9C712A565}" type="slidenum">
              <a:rPr lang="en-ZA" smtClean="0"/>
              <a:t>7</a:t>
            </a:fld>
            <a:endParaRPr lang="en-ZA"/>
          </a:p>
        </p:txBody>
      </p:sp>
    </p:spTree>
    <p:extLst>
      <p:ext uri="{BB962C8B-B14F-4D97-AF65-F5344CB8AC3E}">
        <p14:creationId xmlns:p14="http://schemas.microsoft.com/office/powerpoint/2010/main" val="3733516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1EB0-A330-5184-FC8F-D3F594A46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87F28-DDE6-F411-DA6C-9517ED76B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A5E7E-EFC8-085D-43F7-F7EFEDEC0B5B}"/>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a:t>NB: </a:t>
            </a:r>
            <a:r>
              <a:rPr lang="en-ZA" sz="1200" i="1"/>
              <a:t>This infographic is to be done together on call when we ALL compile the presentation, ONE person is to generate the graphics, ensure to save the script from the AI version, date time etc….</a:t>
            </a:r>
          </a:p>
          <a:p>
            <a:pPr marL="285750" lvl="0" indent="-285750">
              <a:buFont typeface="Arial" panose="020B0604020202020204" pitchFamily="34" charset="0"/>
              <a:buChar char="•"/>
            </a:pPr>
            <a:endParaRPr lang="en-ZA" b="1"/>
          </a:p>
          <a:p>
            <a:pPr marL="285750" lvl="0" indent="-285750">
              <a:buFont typeface="Arial" panose="020B0604020202020204" pitchFamily="34" charset="0"/>
              <a:buChar char="•"/>
            </a:pPr>
            <a:endParaRPr lang="en-ZA" b="1"/>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a:t>Talking notes: </a:t>
            </a:r>
            <a:r>
              <a:rPr lang="en-ZA" sz="1200"/>
              <a:t>CVE-2026-21533 is a critical </a:t>
            </a:r>
            <a:r>
              <a:rPr lang="en-ZA" sz="1200" b="1"/>
              <a:t>Elevation of Privilege (</a:t>
            </a:r>
            <a:r>
              <a:rPr lang="en-ZA" sz="1200" b="1" err="1"/>
              <a:t>EoP</a:t>
            </a:r>
            <a:r>
              <a:rPr lang="en-ZA" sz="1200" b="1"/>
              <a:t>)</a:t>
            </a:r>
            <a:r>
              <a:rPr lang="en-ZA" sz="1200"/>
              <a:t> vulnerability in Windows Remote Desktop Services (RDS). It was disclosed in February 2026 and was identified as being actively exploited in the wild as a "zero-day" before patches were available.</a:t>
            </a:r>
          </a:p>
          <a:p>
            <a:pPr marL="285750" lvl="0" indent="-285750">
              <a:buFont typeface="Arial" panose="020B0604020202020204" pitchFamily="34" charset="0"/>
              <a:buChar char="•"/>
            </a:pPr>
            <a:endParaRPr lang="en-ZA" b="1"/>
          </a:p>
          <a:p>
            <a:pPr marL="285750" lvl="0" indent="-285750">
              <a:buFont typeface="Arial" panose="020B0604020202020204" pitchFamily="34" charset="0"/>
              <a:buChar char="•"/>
            </a:pPr>
            <a:r>
              <a:rPr lang="en-ZA" b="1"/>
              <a:t>The Mechanism:</a:t>
            </a:r>
            <a:r>
              <a:rPr lang="en-ZA"/>
              <a:t> The flaw allows a locally authenticated attacker (someone who already has a low-privilege account on the machine) to manipulate a specific service configuration registry key under the </a:t>
            </a:r>
            <a:r>
              <a:rPr lang="en-ZA" err="1"/>
              <a:t>TermService</a:t>
            </a:r>
            <a:r>
              <a:rPr lang="en-ZA"/>
              <a:t> (the service name for Remote Desktop).</a:t>
            </a:r>
          </a:p>
          <a:p>
            <a:pPr marL="285750" lvl="0" indent="-285750">
              <a:buFont typeface="Arial" panose="020B0604020202020204" pitchFamily="34" charset="0"/>
              <a:buChar char="•"/>
            </a:pPr>
            <a:r>
              <a:rPr lang="en-ZA" b="1"/>
              <a:t>The Exploit:</a:t>
            </a:r>
            <a:r>
              <a:rPr lang="en-ZA"/>
              <a:t> An attacker can replace a legitimate service configuration key with a malicious, attacker-controlled key. Because the system does not properly validate the permissions or the source of this modification, the service executes with the updated (malicious) configuration.</a:t>
            </a:r>
          </a:p>
          <a:p>
            <a:pPr marL="285750" lvl="0" indent="-285750">
              <a:buFont typeface="Arial" panose="020B0604020202020204" pitchFamily="34" charset="0"/>
              <a:buChar char="•"/>
            </a:pPr>
            <a:r>
              <a:rPr lang="en-ZA" b="1"/>
              <a:t>The Result:</a:t>
            </a:r>
            <a:r>
              <a:rPr lang="en-ZA"/>
              <a:t> This exploit allows the attacker to escalate their privileges to </a:t>
            </a:r>
            <a:r>
              <a:rPr lang="en-ZA" b="1"/>
              <a:t>SYSTEM</a:t>
            </a:r>
            <a:r>
              <a:rPr lang="en-ZA"/>
              <a:t> level—the highest level of administrative authority in Windows. Once privileges are escalated an attacker can perform any action, such as adding new users to the "Administrators" group, installing persistent malware, or accessing and extracting sensitive data across the entire network.</a:t>
            </a:r>
          </a:p>
          <a:p>
            <a:endParaRPr lang="en-ZA"/>
          </a:p>
        </p:txBody>
      </p:sp>
      <p:sp>
        <p:nvSpPr>
          <p:cNvPr id="4" name="Slide Number Placeholder 3">
            <a:extLst>
              <a:ext uri="{FF2B5EF4-FFF2-40B4-BE49-F238E27FC236}">
                <a16:creationId xmlns:a16="http://schemas.microsoft.com/office/drawing/2014/main" id="{BC8D3C66-4E0A-D614-5EDC-12EF7DF793A4}"/>
              </a:ext>
            </a:extLst>
          </p:cNvPr>
          <p:cNvSpPr>
            <a:spLocks noGrp="1"/>
          </p:cNvSpPr>
          <p:nvPr>
            <p:ph type="sldNum" sz="quarter" idx="5"/>
          </p:nvPr>
        </p:nvSpPr>
        <p:spPr/>
        <p:txBody>
          <a:bodyPr/>
          <a:lstStyle/>
          <a:p>
            <a:fld id="{A25D9E1E-FE82-4D89-AA6F-38F9C712A565}" type="slidenum">
              <a:rPr lang="en-ZA" smtClean="0"/>
              <a:t>8</a:t>
            </a:fld>
            <a:endParaRPr lang="en-ZA"/>
          </a:p>
        </p:txBody>
      </p:sp>
    </p:spTree>
    <p:extLst>
      <p:ext uri="{BB962C8B-B14F-4D97-AF65-F5344CB8AC3E}">
        <p14:creationId xmlns:p14="http://schemas.microsoft.com/office/powerpoint/2010/main" val="2883032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a:solidFill>
                  <a:schemeClr val="bg1"/>
                </a:solidFill>
              </a:rPr>
              <a:t>The Vulnerability:</a:t>
            </a:r>
            <a:r>
              <a:rPr lang="en-US" sz="1600">
                <a:solidFill>
                  <a:schemeClr val="bg1"/>
                </a:solidFill>
              </a:rPr>
              <a:t> An RCE flaw allowing attackers to execute any command on your SharePoint server remotely via the internet.</a:t>
            </a:r>
          </a:p>
          <a:p>
            <a:r>
              <a:rPr lang="en-US" sz="1600" b="1">
                <a:solidFill>
                  <a:schemeClr val="bg1"/>
                </a:solidFill>
              </a:rPr>
              <a:t>Root Cause:</a:t>
            </a:r>
            <a:r>
              <a:rPr lang="en-US" sz="1600">
                <a:solidFill>
                  <a:schemeClr val="bg1"/>
                </a:solidFill>
              </a:rPr>
              <a:t> Unsafe Deserialization - SharePoint can be tricked into converting malicious data into a live object, unintentionally executing hidden code. Even users with basic credentials — no admin rights — can trigger the exploit.</a:t>
            </a:r>
          </a:p>
          <a:p>
            <a:r>
              <a:rPr lang="en-US" sz="1600" b="1">
                <a:solidFill>
                  <a:schemeClr val="bg1"/>
                </a:solidFill>
              </a:rPr>
              <a:t>Full Server Compromise: </a:t>
            </a:r>
            <a:r>
              <a:rPr lang="en-US" sz="1600">
                <a:solidFill>
                  <a:schemeClr val="bg1"/>
                </a:solidFill>
              </a:rPr>
              <a:t>Once executed, attackers inherit SharePoint Service Account rights, allowing them to read, modify, or delete any documents in the environment.</a:t>
            </a:r>
          </a:p>
          <a:p>
            <a:r>
              <a:rPr lang="en-US" sz="1600" b="1">
                <a:solidFill>
                  <a:schemeClr val="bg1"/>
                </a:solidFill>
              </a:rPr>
              <a:t>Lateral Movement:</a:t>
            </a:r>
            <a:r>
              <a:rPr lang="en-US" sz="1600">
                <a:solidFill>
                  <a:schemeClr val="bg1"/>
                </a:solidFill>
              </a:rPr>
              <a:t> The compromised server acts as a pivot point, allowing attackers to move deeper into the internal network to target domain controllers or sensitive SQL databases.</a:t>
            </a:r>
          </a:p>
          <a:p>
            <a:r>
              <a:rPr lang="en-US" sz="1600" b="1">
                <a:solidFill>
                  <a:schemeClr val="bg1"/>
                </a:solidFill>
              </a:rPr>
              <a:t>Data Exfiltration: </a:t>
            </a:r>
            <a:r>
              <a:rPr lang="en-US" sz="1600">
                <a:solidFill>
                  <a:schemeClr val="bg1"/>
                </a:solidFill>
              </a:rPr>
              <a:t>As SharePoint stores sensitive intellectual property and communications, attackers aim for large-scale data theft or ransomware deployment.</a:t>
            </a:r>
          </a:p>
          <a:p>
            <a:endParaRPr lang="en-US" sz="1600">
              <a:solidFill>
                <a:schemeClr val="bg1"/>
              </a:solidFill>
            </a:endParaRPr>
          </a:p>
          <a:p>
            <a:r>
              <a:rPr lang="en-US" sz="1600" b="1">
                <a:solidFill>
                  <a:schemeClr val="bg1"/>
                </a:solidFill>
              </a:rPr>
              <a:t>Business Impact &amp; Risk Analysis (in the South African context) :</a:t>
            </a:r>
          </a:p>
          <a:p>
            <a:r>
              <a:rPr lang="en-US" sz="1600">
                <a:solidFill>
                  <a:schemeClr val="bg1"/>
                </a:solidFill>
              </a:rPr>
              <a:t>SharePoint is the "collaboration backbone" for many South African banks, legal firms, and government agencies, etc.</a:t>
            </a:r>
          </a:p>
          <a:p>
            <a:pPr marL="342900" indent="-342900">
              <a:buFont typeface="+mj-lt"/>
              <a:buAutoNum type="arabicPeriod"/>
            </a:pPr>
            <a:r>
              <a:rPr lang="en-US" sz="1600" b="1">
                <a:solidFill>
                  <a:schemeClr val="bg1"/>
                </a:solidFill>
              </a:rPr>
              <a:t>Corporate Espionage &amp; Ransomware Target</a:t>
            </a:r>
          </a:p>
          <a:p>
            <a:pPr marL="857250" lvl="1" indent="-400050">
              <a:buFont typeface="+mj-lt"/>
              <a:buAutoNum type="romanUcPeriod"/>
            </a:pPr>
            <a:r>
              <a:rPr lang="en-US" sz="1600">
                <a:solidFill>
                  <a:schemeClr val="bg1"/>
                </a:solidFill>
              </a:rPr>
              <a:t>Data Breach Risk: Exploiting this flaw lets attackers run code as the SharePoint Service Account, bypassing permissions to steal intellectual property or financial records.</a:t>
            </a:r>
          </a:p>
          <a:p>
            <a:pPr marL="857250" lvl="1" indent="-400050">
              <a:buFont typeface="+mj-lt"/>
              <a:buAutoNum type="romanUcPeriod"/>
            </a:pPr>
            <a:r>
              <a:rPr lang="en-US" sz="1600">
                <a:solidFill>
                  <a:schemeClr val="bg1"/>
                </a:solidFill>
              </a:rPr>
              <a:t>Ransomware Gateway: In 2026, threat actors are using this RCE to launch ransomware. For South African businesses already under strain, recovery costs now average over R20 million.</a:t>
            </a:r>
          </a:p>
          <a:p>
            <a:r>
              <a:rPr lang="en-US" sz="1600" b="1">
                <a:solidFill>
                  <a:schemeClr val="bg1"/>
                </a:solidFill>
              </a:rPr>
              <a:t>2. Compliance and POPIA Liabilities</a:t>
            </a:r>
          </a:p>
          <a:p>
            <a:pPr marL="857250" lvl="1" indent="-400050">
              <a:buFont typeface="+mj-lt"/>
              <a:buAutoNum type="romanUcPeriod"/>
            </a:pPr>
            <a:r>
              <a:rPr lang="en-US" sz="1600">
                <a:solidFill>
                  <a:schemeClr val="bg1"/>
                </a:solidFill>
              </a:rPr>
              <a:t>POPIA Compliance: Businesses must take “reasonable measures” to secure data. Ignoring a known, patched flaw could be seen as failing statutory obligations.</a:t>
            </a:r>
          </a:p>
          <a:p>
            <a:pPr marL="857250" lvl="1" indent="-400050">
              <a:buFont typeface="+mj-lt"/>
              <a:buAutoNum type="romanUcPeriod"/>
            </a:pPr>
            <a:r>
              <a:rPr lang="en-US" sz="1600">
                <a:solidFill>
                  <a:schemeClr val="bg1"/>
                </a:solidFill>
              </a:rPr>
              <a:t>Mandatory Reporting: Exploitation would trigger notification to the Regulator and affected individuals, risking reputational damage and fines up to R10 million</a:t>
            </a:r>
          </a:p>
          <a:p>
            <a:r>
              <a:rPr lang="en-US" sz="1600" b="1">
                <a:solidFill>
                  <a:schemeClr val="bg1"/>
                </a:solidFill>
              </a:rPr>
              <a:t>3. The "Low-Privilege" Danger</a:t>
            </a:r>
          </a:p>
          <a:p>
            <a:pPr marL="857250" lvl="1" indent="-400050">
              <a:buFont typeface="+mj-lt"/>
              <a:buAutoNum type="romanUcPeriod"/>
            </a:pPr>
            <a:r>
              <a:rPr lang="en-US" sz="1600">
                <a:solidFill>
                  <a:schemeClr val="bg1"/>
                </a:solidFill>
              </a:rPr>
              <a:t>The most dangerous aspect for SA firms is  that Attackers often need only basic user access.</a:t>
            </a:r>
          </a:p>
          <a:p>
            <a:pPr marL="857250" lvl="1" indent="-400050">
              <a:buFont typeface="+mj-lt"/>
              <a:buAutoNum type="romanUcPeriod"/>
            </a:pPr>
            <a:r>
              <a:rPr lang="en-US" sz="1600">
                <a:solidFill>
                  <a:schemeClr val="bg1"/>
                </a:solidFill>
              </a:rPr>
              <a:t>Phishing Risk: By stealing a junior employee’s credentials, they can exploit SharePoint with “Standard User” rights and escalate to full Domain Admin control.</a:t>
            </a:r>
          </a:p>
          <a:p>
            <a:pPr marL="400050" indent="-400050">
              <a:buFont typeface="+mj-lt"/>
              <a:buAutoNum type="arabicPeriod"/>
            </a:pPr>
            <a:endParaRPr lang="en-US" sz="1600">
              <a:solidFill>
                <a:schemeClr val="bg1"/>
              </a:solidFill>
            </a:endParaRPr>
          </a:p>
          <a:p>
            <a:r>
              <a:rPr lang="en-US" sz="1600" b="1">
                <a:solidFill>
                  <a:schemeClr val="bg1"/>
                </a:solidFill>
              </a:rPr>
              <a:t>Remediation &amp; Defensive Strategy</a:t>
            </a:r>
          </a:p>
          <a:p>
            <a:r>
              <a:rPr lang="en-US" sz="1600" b="1">
                <a:solidFill>
                  <a:schemeClr val="bg1"/>
                </a:solidFill>
              </a:rPr>
              <a:t>1. Immediate Patching</a:t>
            </a:r>
            <a:endParaRPr lang="en-US" sz="1600">
              <a:solidFill>
                <a:schemeClr val="bg1"/>
              </a:solidFill>
            </a:endParaRPr>
          </a:p>
          <a:p>
            <a:r>
              <a:rPr lang="en-US" sz="1600">
                <a:solidFill>
                  <a:schemeClr val="bg1"/>
                </a:solidFill>
              </a:rPr>
              <a:t>Microsoft issued fixes in Jan 2026. All on‑prem servers should be updated without delay</a:t>
            </a:r>
          </a:p>
          <a:p>
            <a:r>
              <a:rPr lang="en-US" sz="1600" b="1">
                <a:solidFill>
                  <a:schemeClr val="bg1"/>
                </a:solidFill>
              </a:rPr>
              <a:t>2. Threat Hunting: </a:t>
            </a:r>
            <a:r>
              <a:rPr lang="en-ZA" sz="1600">
                <a:solidFill>
                  <a:schemeClr val="bg1"/>
                </a:solidFill>
              </a:rPr>
              <a:t>If patching is delayed, security teams should monitor for ” </a:t>
            </a:r>
            <a:r>
              <a:rPr lang="en-US" sz="1600">
                <a:solidFill>
                  <a:schemeClr val="bg1"/>
                </a:solidFill>
              </a:rPr>
              <a:t>Indicators of Compromise"</a:t>
            </a:r>
            <a:r>
              <a:rPr lang="en-ZA" sz="1600">
                <a:solidFill>
                  <a:schemeClr val="bg1"/>
                </a:solidFill>
              </a:rPr>
              <a:t> </a:t>
            </a:r>
            <a:r>
              <a:rPr lang="en-ZA" sz="1600" err="1">
                <a:solidFill>
                  <a:schemeClr val="bg1"/>
                </a:solidFill>
              </a:rPr>
              <a:t>IoCs</a:t>
            </a:r>
            <a:r>
              <a:rPr lang="en-ZA" sz="1600">
                <a:solidFill>
                  <a:schemeClr val="bg1"/>
                </a:solidFill>
              </a:rPr>
              <a:t>:</a:t>
            </a:r>
          </a:p>
          <a:p>
            <a:pPr marL="857250" lvl="1" indent="-400050">
              <a:buFont typeface="+mj-lt"/>
              <a:buAutoNum type="romanUcPeriod"/>
            </a:pPr>
            <a:r>
              <a:rPr lang="en-ZA" sz="1600" b="1">
                <a:solidFill>
                  <a:schemeClr val="bg1"/>
                </a:solidFill>
              </a:rPr>
              <a:t>Suspicious Processes:</a:t>
            </a:r>
            <a:r>
              <a:rPr lang="en-ZA" sz="1600">
                <a:solidFill>
                  <a:schemeClr val="bg1"/>
                </a:solidFill>
              </a:rPr>
              <a:t> w3wp.exe spawning cmd.exe, powershell.exe, or unusual scripting engines.</a:t>
            </a:r>
          </a:p>
          <a:p>
            <a:pPr marL="857250" lvl="1" indent="-400050">
              <a:buFont typeface="+mj-lt"/>
              <a:buAutoNum type="romanUcPeriod"/>
            </a:pPr>
            <a:r>
              <a:rPr lang="en-ZA" sz="1600" b="1">
                <a:solidFill>
                  <a:schemeClr val="bg1"/>
                </a:solidFill>
              </a:rPr>
              <a:t>Web Shells:</a:t>
            </a:r>
            <a:r>
              <a:rPr lang="en-ZA" sz="1600">
                <a:solidFill>
                  <a:schemeClr val="bg1"/>
                </a:solidFill>
              </a:rPr>
              <a:t> New or altered .</a:t>
            </a:r>
            <a:r>
              <a:rPr lang="en-ZA" sz="1600" err="1">
                <a:solidFill>
                  <a:schemeClr val="bg1"/>
                </a:solidFill>
              </a:rPr>
              <a:t>aspx</a:t>
            </a:r>
            <a:r>
              <a:rPr lang="en-ZA" sz="1600">
                <a:solidFill>
                  <a:schemeClr val="bg1"/>
                </a:solidFill>
              </a:rPr>
              <a:t>/.</a:t>
            </a:r>
            <a:r>
              <a:rPr lang="en-ZA" sz="1600" err="1">
                <a:solidFill>
                  <a:schemeClr val="bg1"/>
                </a:solidFill>
              </a:rPr>
              <a:t>ashx</a:t>
            </a:r>
            <a:r>
              <a:rPr lang="en-ZA" sz="1600">
                <a:solidFill>
                  <a:schemeClr val="bg1"/>
                </a:solidFill>
              </a:rPr>
              <a:t> files in SharePoint directories</a:t>
            </a:r>
          </a:p>
          <a:p>
            <a:pPr marL="400050" indent="-400050">
              <a:buFont typeface="+mj-lt"/>
              <a:buAutoNum type="arabicPeriod" startAt="3"/>
            </a:pPr>
            <a:r>
              <a:rPr lang="en-US" sz="1600" b="1">
                <a:solidFill>
                  <a:schemeClr val="bg1"/>
                </a:solidFill>
              </a:rPr>
              <a:t>Structural Defense (AI Tools)</a:t>
            </a:r>
            <a:br>
              <a:rPr lang="en-US" sz="1600" b="1">
                <a:solidFill>
                  <a:schemeClr val="bg1"/>
                </a:solidFill>
              </a:rPr>
            </a:br>
            <a:r>
              <a:rPr lang="en-US" sz="1600" b="1">
                <a:solidFill>
                  <a:schemeClr val="bg1"/>
                </a:solidFill>
              </a:rPr>
              <a:t>AI‑driven security can spot behavioral anomalies (e.g., unusual outbound connections) that signature‑based tools often miss.</a:t>
            </a:r>
          </a:p>
          <a:p>
            <a:endParaRPr lang="en-ZA"/>
          </a:p>
          <a:p>
            <a:endParaRPr lang="en-ZA" b="1"/>
          </a:p>
        </p:txBody>
      </p:sp>
      <p:sp>
        <p:nvSpPr>
          <p:cNvPr id="4" name="Slide Number Placeholder 3"/>
          <p:cNvSpPr>
            <a:spLocks noGrp="1"/>
          </p:cNvSpPr>
          <p:nvPr>
            <p:ph type="sldNum" sz="quarter" idx="5"/>
          </p:nvPr>
        </p:nvSpPr>
        <p:spPr/>
        <p:txBody>
          <a:bodyPr/>
          <a:lstStyle/>
          <a:p>
            <a:fld id="{A25D9E1E-FE82-4D89-AA6F-38F9C712A565}" type="slidenum">
              <a:rPr lang="en-ZA" smtClean="0"/>
              <a:t>9</a:t>
            </a:fld>
            <a:endParaRPr lang="en-ZA"/>
          </a:p>
        </p:txBody>
      </p:sp>
    </p:spTree>
    <p:extLst>
      <p:ext uri="{BB962C8B-B14F-4D97-AF65-F5344CB8AC3E}">
        <p14:creationId xmlns:p14="http://schemas.microsoft.com/office/powerpoint/2010/main" val="2830435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64F5-0B1E-E38E-2C98-F90E2173C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C3C88-09BB-B88D-BD7C-9AF2B018E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E45BA3-CC67-E8E0-1489-996A8CF42D79}"/>
              </a:ext>
            </a:extLst>
          </p:cNvPr>
          <p:cNvSpPr>
            <a:spLocks noGrp="1"/>
          </p:cNvSpPr>
          <p:nvPr>
            <p:ph type="body" idx="1"/>
          </p:nvPr>
        </p:nvSpPr>
        <p:spPr/>
        <p:txBody>
          <a:bodyPr/>
          <a:lstStyle/>
          <a:p>
            <a:br>
              <a:rPr lang="en-US"/>
            </a:br>
            <a:endParaRPr lang="en-US"/>
          </a:p>
          <a:p>
            <a:r>
              <a:rPr lang="en-US" b="1"/>
              <a:t>🌟 Potential Advantages</a:t>
            </a:r>
          </a:p>
          <a:p>
            <a:r>
              <a:rPr lang="en-US" b="1"/>
              <a:t>Early Detection of Vulnerabilities</a:t>
            </a:r>
            <a:endParaRPr lang="en-US"/>
          </a:p>
          <a:p>
            <a:pPr lvl="1"/>
            <a:r>
              <a:rPr lang="en-US"/>
              <a:t>AI can scan codebases and system behavior continuously, identifying flaws faster than manual reviews.</a:t>
            </a:r>
          </a:p>
          <a:p>
            <a:pPr lvl="1"/>
            <a:r>
              <a:rPr lang="en-US"/>
              <a:t>Machine learning models detect patterns of insecure coding practices and zero-day exploits.</a:t>
            </a:r>
          </a:p>
          <a:p>
            <a:r>
              <a:rPr lang="en-US" b="1"/>
              <a:t>Adaptive Threat Response</a:t>
            </a:r>
            <a:endParaRPr lang="en-US"/>
          </a:p>
          <a:p>
            <a:pPr lvl="1"/>
            <a:r>
              <a:rPr lang="en-US"/>
              <a:t>AI systems learn from new attack vectors and adjust defenses in real time.</a:t>
            </a:r>
          </a:p>
          <a:p>
            <a:pPr lvl="1"/>
            <a:r>
              <a:rPr lang="en-US"/>
              <a:t>Automated patching or containment reduces the window of exposure.</a:t>
            </a:r>
          </a:p>
          <a:p>
            <a:r>
              <a:rPr lang="en-US" b="1"/>
              <a:t>Reduced Human Workload</a:t>
            </a:r>
            <a:endParaRPr lang="en-US"/>
          </a:p>
          <a:p>
            <a:pPr lvl="1"/>
            <a:r>
              <a:rPr lang="en-US"/>
              <a:t>Security analysts are freed from repetitive tasks (log reviews, anomaly detection).</a:t>
            </a:r>
          </a:p>
          <a:p>
            <a:pPr lvl="1"/>
            <a:r>
              <a:rPr lang="en-US"/>
              <a:t>AI triages alerts, reducing false positives and focusing human effort on critical issues.</a:t>
            </a:r>
          </a:p>
          <a:p>
            <a:r>
              <a:rPr lang="en-US" b="1"/>
              <a:t>Scalability</a:t>
            </a:r>
            <a:endParaRPr lang="en-US"/>
          </a:p>
          <a:p>
            <a:pPr lvl="1"/>
            <a:r>
              <a:rPr lang="en-US"/>
              <a:t>AI tools can monitor vast, complex environments (cloud, IoT, enterprise networks) without proportional increases in staff.</a:t>
            </a:r>
          </a:p>
          <a:p>
            <a:r>
              <a:rPr lang="en-US" b="1"/>
              <a:t>Predictive Capabilities</a:t>
            </a:r>
            <a:endParaRPr lang="en-US"/>
          </a:p>
          <a:p>
            <a:pPr lvl="1"/>
            <a:r>
              <a:rPr lang="en-US"/>
              <a:t>By analyzing historical data, AI can forecast likely attack surfaces and prioritize remediation before exploitation occurs.</a:t>
            </a:r>
          </a:p>
          <a:p>
            <a:br>
              <a:rPr lang="en-US"/>
            </a:br>
            <a:endParaRPr lang="en-US"/>
          </a:p>
          <a:p>
            <a:r>
              <a:rPr lang="en-US" b="1"/>
              <a:t>⚠️ Challenges</a:t>
            </a:r>
          </a:p>
          <a:p>
            <a:r>
              <a:rPr lang="en-US" b="1"/>
              <a:t>False Positives &amp; Negatives</a:t>
            </a:r>
            <a:endParaRPr lang="en-US"/>
          </a:p>
          <a:p>
            <a:pPr lvl="1"/>
            <a:r>
              <a:rPr lang="en-US"/>
              <a:t>AI may misclassify benign behavior as malicious, overwhelming teams.</a:t>
            </a:r>
          </a:p>
          <a:p>
            <a:pPr lvl="1"/>
            <a:r>
              <a:rPr lang="en-US"/>
              <a:t>Conversely, novel exploits outside training data may slip through undetected.</a:t>
            </a:r>
          </a:p>
          <a:p>
            <a:r>
              <a:rPr lang="en-US" b="1"/>
              <a:t>Model Bias &amp; Data Quality</a:t>
            </a:r>
            <a:endParaRPr lang="en-US"/>
          </a:p>
          <a:p>
            <a:pPr lvl="1"/>
            <a:r>
              <a:rPr lang="en-US"/>
              <a:t>AI effectiveness depends on the quality of training data. Poor or incomplete datasets can skew detection accuracy.</a:t>
            </a:r>
          </a:p>
          <a:p>
            <a:r>
              <a:rPr lang="en-US" b="1"/>
              <a:t>Complexity &amp; Integration</a:t>
            </a:r>
            <a:endParaRPr lang="en-US"/>
          </a:p>
          <a:p>
            <a:pPr lvl="1"/>
            <a:r>
              <a:rPr lang="en-US"/>
              <a:t>Legacy systems may not integrate smoothly with AI-driven tools.</a:t>
            </a:r>
          </a:p>
          <a:p>
            <a:pPr lvl="1"/>
            <a:r>
              <a:rPr lang="en-US"/>
              <a:t>Skilled staff are required to interpret AI outputs and avoid blind reliance.</a:t>
            </a:r>
          </a:p>
          <a:p>
            <a:r>
              <a:rPr lang="en-US" b="1"/>
              <a:t>Adversarial Attacks</a:t>
            </a:r>
            <a:endParaRPr lang="en-US"/>
          </a:p>
          <a:p>
            <a:pPr lvl="1"/>
            <a:r>
              <a:rPr lang="en-US"/>
              <a:t>Attackers can deliberately manipulate inputs to mislead AI models (e.g., adversarial examples), creating new vulnerabilities.</a:t>
            </a:r>
          </a:p>
          <a:p>
            <a:r>
              <a:rPr lang="en-US" b="1"/>
              <a:t>Cost &amp; Resource Requirements</a:t>
            </a:r>
            <a:endParaRPr lang="en-US"/>
          </a:p>
          <a:p>
            <a:pPr lvl="1"/>
            <a:r>
              <a:rPr lang="en-US"/>
              <a:t>Advanced AI tools require significant investment in infrastructure, licensing, and expertise.</a:t>
            </a:r>
          </a:p>
          <a:p>
            <a:br>
              <a:rPr lang="en-US"/>
            </a:br>
            <a:endParaRPr lang="en-US"/>
          </a:p>
          <a:p>
            <a:r>
              <a:rPr lang="en-US" b="1"/>
              <a:t>🔎 Analysis: Mitigation vs Exacerbation</a:t>
            </a:r>
          </a:p>
          <a:p>
            <a:r>
              <a:rPr lang="en-US" b="1"/>
              <a:t>Mitigation Potential</a:t>
            </a:r>
            <a:endParaRPr lang="en-US"/>
          </a:p>
          <a:p>
            <a:pPr lvl="1"/>
            <a:r>
              <a:rPr lang="en-US"/>
              <a:t>AI tools excel at </a:t>
            </a:r>
            <a:r>
              <a:rPr lang="en-US" b="1"/>
              <a:t>rapid detection and response</a:t>
            </a:r>
            <a:r>
              <a:rPr lang="en-US"/>
              <a:t>, reducing the time attackers have to exploit vulnerabilities.</a:t>
            </a:r>
          </a:p>
          <a:p>
            <a:pPr lvl="1"/>
            <a:r>
              <a:rPr lang="en-US"/>
              <a:t>They can uncover hidden flaws in complex systems that human analysts might miss.</a:t>
            </a:r>
          </a:p>
          <a:p>
            <a:pPr lvl="1"/>
            <a:r>
              <a:rPr lang="en-US"/>
              <a:t>Predictive analytics help organizations patch proactively, lowering breach likelihood.</a:t>
            </a:r>
          </a:p>
          <a:p>
            <a:r>
              <a:rPr lang="en-US" b="1"/>
              <a:t>Exacerbation Risks</a:t>
            </a:r>
            <a:endParaRPr lang="en-US"/>
          </a:p>
          <a:p>
            <a:pPr lvl="1"/>
            <a:r>
              <a:rPr lang="en-US"/>
              <a:t>Over-reliance on AI without human oversight can create blind spots.</a:t>
            </a:r>
          </a:p>
          <a:p>
            <a:pPr lvl="1"/>
            <a:r>
              <a:rPr lang="en-US"/>
              <a:t>If attackers exploit weaknesses in the AI itself (e.g., poisoning training data), the tool may inadvertently open new attack vectors.</a:t>
            </a:r>
          </a:p>
          <a:p>
            <a:pPr lvl="1"/>
            <a:r>
              <a:rPr lang="en-US"/>
              <a:t>Misinterpretation of AI outputs could lead to delayed or incorrect remediation.</a:t>
            </a:r>
          </a:p>
          <a:p>
            <a:br>
              <a:rPr lang="en-US"/>
            </a:br>
            <a:endParaRPr lang="en-US"/>
          </a:p>
          <a:p>
            <a:r>
              <a:rPr lang="en-US" b="1"/>
              <a:t>📌 Conclusion</a:t>
            </a:r>
          </a:p>
          <a:p>
            <a:r>
              <a:rPr lang="en-US"/>
              <a:t>AI-driven security tools are </a:t>
            </a:r>
            <a:r>
              <a:rPr lang="en-US" b="1"/>
              <a:t>powerful allies</a:t>
            </a:r>
            <a:r>
              <a:rPr lang="en-US"/>
              <a:t> in addressing software vulnerabilities, but they are not a silver bullet. Their effectiveness lies in a </a:t>
            </a:r>
            <a:r>
              <a:rPr lang="en-US" b="1"/>
              <a:t>hybrid approach</a:t>
            </a:r>
            <a:r>
              <a:rPr lang="en-US"/>
              <a:t>:</a:t>
            </a:r>
          </a:p>
          <a:p>
            <a:r>
              <a:rPr lang="en-US"/>
              <a:t>Use AI for speed, scale, and predictive insights.</a:t>
            </a:r>
          </a:p>
          <a:p>
            <a:r>
              <a:rPr lang="en-US"/>
              <a:t>Combine with human expertise for context, judgment, and oversight.</a:t>
            </a:r>
          </a:p>
          <a:p>
            <a:r>
              <a:rPr lang="en-US"/>
              <a:t>When balanced correctly, AI tools </a:t>
            </a:r>
            <a:r>
              <a:rPr lang="en-US" b="1"/>
              <a:t>mitigate vulnerabilities more effectively than traditional methods</a:t>
            </a:r>
            <a:r>
              <a:rPr lang="en-US"/>
              <a:t>. However, without governance and skilled interpretation, they risk </a:t>
            </a:r>
            <a:r>
              <a:rPr lang="en-US" b="1"/>
              <a:t>exacerbating flaws</a:t>
            </a:r>
            <a:r>
              <a:rPr lang="en-US"/>
              <a:t> by introducing new attack surfaces or misclassifications.</a:t>
            </a:r>
          </a:p>
          <a:p>
            <a:br>
              <a:rPr lang="en-US"/>
            </a:br>
            <a:endParaRPr lang="en-US"/>
          </a:p>
          <a:p>
            <a:endParaRPr lang="en-ZA" b="1"/>
          </a:p>
        </p:txBody>
      </p:sp>
      <p:sp>
        <p:nvSpPr>
          <p:cNvPr id="4" name="Slide Number Placeholder 3">
            <a:extLst>
              <a:ext uri="{FF2B5EF4-FFF2-40B4-BE49-F238E27FC236}">
                <a16:creationId xmlns:a16="http://schemas.microsoft.com/office/drawing/2014/main" id="{8683173C-8CC3-4057-F822-3EAC5DA1C832}"/>
              </a:ext>
            </a:extLst>
          </p:cNvPr>
          <p:cNvSpPr>
            <a:spLocks noGrp="1"/>
          </p:cNvSpPr>
          <p:nvPr>
            <p:ph type="sldNum" sz="quarter" idx="5"/>
          </p:nvPr>
        </p:nvSpPr>
        <p:spPr/>
        <p:txBody>
          <a:bodyPr/>
          <a:lstStyle/>
          <a:p>
            <a:fld id="{A25D9E1E-FE82-4D89-AA6F-38F9C712A565}" type="slidenum">
              <a:rPr lang="en-ZA" smtClean="0"/>
              <a:t>10</a:t>
            </a:fld>
            <a:endParaRPr lang="en-ZA"/>
          </a:p>
        </p:txBody>
      </p:sp>
    </p:spTree>
    <p:extLst>
      <p:ext uri="{BB962C8B-B14F-4D97-AF65-F5344CB8AC3E}">
        <p14:creationId xmlns:p14="http://schemas.microsoft.com/office/powerpoint/2010/main" val="1612515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1884-FD27-84F0-57E9-6EF9FA3B2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20678-E11A-FEED-334F-A7229870A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C7128-86C2-7278-5574-48B428CC43C2}"/>
              </a:ext>
            </a:extLst>
          </p:cNvPr>
          <p:cNvSpPr>
            <a:spLocks noGrp="1"/>
          </p:cNvSpPr>
          <p:nvPr>
            <p:ph type="body" idx="1"/>
          </p:nvPr>
        </p:nvSpPr>
        <p:spPr/>
        <p:txBody>
          <a:bodyPr/>
          <a:lstStyle/>
          <a:p>
            <a:endParaRPr lang="en-ZA" b="1"/>
          </a:p>
        </p:txBody>
      </p:sp>
      <p:sp>
        <p:nvSpPr>
          <p:cNvPr id="4" name="Slide Number Placeholder 3">
            <a:extLst>
              <a:ext uri="{FF2B5EF4-FFF2-40B4-BE49-F238E27FC236}">
                <a16:creationId xmlns:a16="http://schemas.microsoft.com/office/drawing/2014/main" id="{393A741D-8433-24E7-5863-B2E75A8B23CA}"/>
              </a:ext>
            </a:extLst>
          </p:cNvPr>
          <p:cNvSpPr>
            <a:spLocks noGrp="1"/>
          </p:cNvSpPr>
          <p:nvPr>
            <p:ph type="sldNum" sz="quarter" idx="5"/>
          </p:nvPr>
        </p:nvSpPr>
        <p:spPr/>
        <p:txBody>
          <a:bodyPr/>
          <a:lstStyle/>
          <a:p>
            <a:fld id="{A25D9E1E-FE82-4D89-AA6F-38F9C712A565}" type="slidenum">
              <a:rPr lang="en-ZA" smtClean="0"/>
              <a:t>11</a:t>
            </a:fld>
            <a:endParaRPr lang="en-ZA"/>
          </a:p>
        </p:txBody>
      </p:sp>
    </p:spTree>
    <p:extLst>
      <p:ext uri="{BB962C8B-B14F-4D97-AF65-F5344CB8AC3E}">
        <p14:creationId xmlns:p14="http://schemas.microsoft.com/office/powerpoint/2010/main" val="806563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D2F66-A010-27F2-EE97-5294478D3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EC3D9-99F6-012C-BC22-A0832AD4C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BDADC6-91A2-7C53-958F-58AF403439C3}"/>
              </a:ext>
            </a:extLst>
          </p:cNvPr>
          <p:cNvSpPr>
            <a:spLocks noGrp="1"/>
          </p:cNvSpPr>
          <p:nvPr>
            <p:ph type="body" idx="1"/>
          </p:nvPr>
        </p:nvSpPr>
        <p:spPr/>
        <p:txBody>
          <a:bodyPr/>
          <a:lstStyle/>
          <a:p>
            <a:pPr marL="171450" indent="-171450">
              <a:buFont typeface="Arial" panose="020B0604020202020204" pitchFamily="34" charset="0"/>
              <a:buChar char="•"/>
              <a:defRPr/>
            </a:pPr>
            <a:r>
              <a:rPr lang="en-US" b="1"/>
              <a:t>CVSS Limitations</a:t>
            </a:r>
          </a:p>
          <a:p>
            <a:pPr marL="171450" indent="-171450">
              <a:buFont typeface="Arial" panose="020B0604020202020204" pitchFamily="34" charset="0"/>
              <a:buChar char="•"/>
              <a:defRPr/>
            </a:pPr>
            <a:r>
              <a:rPr lang="en-US" b="1"/>
              <a:t>The Common Vulnerability Scoring System (CVSS) has several limitations that organizations need to consider:</a:t>
            </a:r>
          </a:p>
          <a:p>
            <a:pPr marL="171450" indent="-171450">
              <a:buFont typeface="Arial" panose="020B0604020202020204" pitchFamily="34" charset="0"/>
              <a:buChar char="•"/>
              <a:defRPr/>
            </a:pPr>
            <a:r>
              <a:rPr lang="en-US" b="1"/>
              <a:t>Limited Context: CVSS scores don’t account for the specific risks to your organization. They tell you if a vulnerability is dangerous, but not if it’s dangerous to you.</a:t>
            </a:r>
          </a:p>
          <a:p>
            <a:pPr marL="171450" indent="-171450">
              <a:buFont typeface="Arial" panose="020B0604020202020204" pitchFamily="34" charset="0"/>
              <a:buChar char="•"/>
              <a:defRPr/>
            </a:pPr>
            <a:r>
              <a:rPr lang="en-US" b="1"/>
              <a:t>Example: Suppose two organizations—a financial institution and a small retail store—face the same vulnerability. CVSS might rate it as severe, but for the retailer, the risk might be minimal due to fewer sensitive assets, whereas for the financial institution, it could be critical due to the high value of their data.</a:t>
            </a:r>
          </a:p>
          <a:p>
            <a:pPr marL="171450" indent="-171450">
              <a:buFont typeface="Arial" panose="020B0604020202020204" pitchFamily="34" charset="0"/>
              <a:buChar char="•"/>
              <a:defRPr/>
            </a:pPr>
            <a:r>
              <a:rPr lang="en-US" b="1"/>
              <a:t>Subjectivity: CVSS scores can vary depending on the context, leading to inconsistencies.</a:t>
            </a:r>
          </a:p>
          <a:p>
            <a:pPr marL="171450" indent="-171450">
              <a:buFont typeface="Arial" panose="020B0604020202020204" pitchFamily="34" charset="0"/>
              <a:buChar char="•"/>
              <a:defRPr/>
            </a:pPr>
            <a:r>
              <a:rPr lang="en-US" b="1"/>
              <a:t>Example: A vulnerability in a widely used software might receive a high CVSS score based on its potential impact. However, the risk might be lower if a company has strong security operation controls. Yet, another organization with weaker controls might find the same vulnerability far more threatening, leading to different assessments.</a:t>
            </a:r>
          </a:p>
          <a:p>
            <a:pPr marL="171450" indent="-171450">
              <a:buFont typeface="Arial" panose="020B0604020202020204" pitchFamily="34" charset="0"/>
              <a:buChar char="•"/>
              <a:defRPr/>
            </a:pPr>
            <a:r>
              <a:rPr lang="en-US" b="1"/>
              <a:t>Limited Scope: CVSS doesn’t fully consider the importance of specific assets or existing controls.</a:t>
            </a:r>
          </a:p>
          <a:p>
            <a:pPr marL="171450" indent="-171450">
              <a:buFont typeface="Arial" panose="020B0604020202020204" pitchFamily="34" charset="0"/>
              <a:buChar char="•"/>
              <a:defRPr/>
            </a:pPr>
            <a:r>
              <a:rPr lang="en-US" b="1"/>
              <a:t>Example: CVSS might score a vulnerability in an out-of-date software as low because it’s not internet-facing. However, if that software version is critical to a company’s operations, the low score underestimates the risk, missing the asset’s importance.</a:t>
            </a:r>
          </a:p>
          <a:p>
            <a:pPr marL="171450" indent="-171450">
              <a:buFont typeface="Arial" panose="020B0604020202020204" pitchFamily="34" charset="0"/>
              <a:buChar char="•"/>
              <a:defRPr/>
            </a:pPr>
            <a:r>
              <a:rPr lang="en-US" b="1"/>
              <a:t>Complexity: The system requires a deep understanding of scoring factors. Understanding how to calculate and interpret CVSS scores requires familiarity with several factors, such as attack vectors, complexity, and impact.</a:t>
            </a:r>
          </a:p>
          <a:p>
            <a:pPr marL="171450" indent="-171450">
              <a:buFont typeface="Arial" panose="020B0604020202020204" pitchFamily="34" charset="0"/>
              <a:buChar char="•"/>
              <a:defRPr/>
            </a:pPr>
            <a:r>
              <a:rPr lang="en-US" b="1"/>
              <a:t>Example: This complexity can lead to misinterpretations or misuse of scores for organizations without dedicated security expertise.</a:t>
            </a:r>
          </a:p>
          <a:p>
            <a:pPr marL="171450" indent="-171450">
              <a:buFont typeface="Arial" panose="020B0604020202020204" pitchFamily="34" charset="0"/>
              <a:buChar char="•"/>
              <a:defRPr/>
            </a:pPr>
            <a:r>
              <a:rPr lang="en-US" b="1"/>
              <a:t>Potential for Oversights: Relying solely on CVSS scores can lead to missed opportunities to address the most pressing threats.</a:t>
            </a:r>
          </a:p>
          <a:p>
            <a:pPr marL="171450" indent="-171450">
              <a:buFont typeface="Arial" panose="020B0604020202020204" pitchFamily="34" charset="0"/>
              <a:buChar char="•"/>
              <a:defRPr/>
            </a:pPr>
            <a:r>
              <a:rPr lang="en-US" b="1"/>
              <a:t>Example: If an organization relies solely on CVSS scores, it might overlook threats that don’t score highly but are significant in their specific context—like vulnerabilities in internal systems that an insider could exploit.</a:t>
            </a:r>
            <a:endParaRPr lang="en-ZA" b="1"/>
          </a:p>
        </p:txBody>
      </p:sp>
      <p:sp>
        <p:nvSpPr>
          <p:cNvPr id="4" name="Slide Number Placeholder 3">
            <a:extLst>
              <a:ext uri="{FF2B5EF4-FFF2-40B4-BE49-F238E27FC236}">
                <a16:creationId xmlns:a16="http://schemas.microsoft.com/office/drawing/2014/main" id="{1C49B855-661C-FF0E-B404-C8931EC47184}"/>
              </a:ext>
            </a:extLst>
          </p:cNvPr>
          <p:cNvSpPr>
            <a:spLocks noGrp="1"/>
          </p:cNvSpPr>
          <p:nvPr>
            <p:ph type="sldNum" sz="quarter" idx="5"/>
          </p:nvPr>
        </p:nvSpPr>
        <p:spPr/>
        <p:txBody>
          <a:bodyPr/>
          <a:lstStyle/>
          <a:p>
            <a:fld id="{A25D9E1E-FE82-4D89-AA6F-38F9C712A565}" type="slidenum">
              <a:rPr lang="en-ZA" smtClean="0"/>
              <a:t>12</a:t>
            </a:fld>
            <a:endParaRPr lang="en-ZA"/>
          </a:p>
        </p:txBody>
      </p:sp>
    </p:spTree>
    <p:extLst>
      <p:ext uri="{BB962C8B-B14F-4D97-AF65-F5344CB8AC3E}">
        <p14:creationId xmlns:p14="http://schemas.microsoft.com/office/powerpoint/2010/main" val="3102160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BFD7-78C1-3670-44C2-736A1DDAD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08E03-201F-06E6-2F09-AC0BC3B12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969F3-4586-C661-066E-8CC5B6DEEF5B}"/>
              </a:ext>
            </a:extLst>
          </p:cNvPr>
          <p:cNvSpPr>
            <a:spLocks noGrp="1"/>
          </p:cNvSpPr>
          <p:nvPr>
            <p:ph type="body" idx="1"/>
          </p:nvPr>
        </p:nvSpPr>
        <p:spPr/>
        <p:txBody>
          <a:bodyPr/>
          <a:lstStyle/>
          <a:p>
            <a:pPr marL="171450" indent="-171450">
              <a:buFont typeface="Arial" panose="020B0604020202020204" pitchFamily="34" charset="0"/>
              <a:buChar char="•"/>
              <a:defRPr/>
            </a:pPr>
            <a:r>
              <a:rPr lang="en-US" b="1"/>
              <a:t>CVSS Limitations</a:t>
            </a:r>
          </a:p>
          <a:p>
            <a:pPr marL="171450" indent="-171450">
              <a:buFont typeface="Arial" panose="020B0604020202020204" pitchFamily="34" charset="0"/>
              <a:buChar char="•"/>
              <a:defRPr/>
            </a:pPr>
            <a:r>
              <a:rPr lang="en-US" b="1"/>
              <a:t>The Common Vulnerability Scoring System (CVSS) has several limitations that organizations need to consider:</a:t>
            </a:r>
          </a:p>
          <a:p>
            <a:pPr marL="171450" indent="-171450">
              <a:buFont typeface="Arial" panose="020B0604020202020204" pitchFamily="34" charset="0"/>
              <a:buChar char="•"/>
              <a:defRPr/>
            </a:pPr>
            <a:r>
              <a:rPr lang="en-US" b="1"/>
              <a:t>Limited Context: CVSS scores don’t account for the specific risks to your organization. They tell you if a vulnerability is dangerous, but not if it’s dangerous to you.</a:t>
            </a:r>
          </a:p>
          <a:p>
            <a:pPr marL="171450" indent="-171450">
              <a:buFont typeface="Arial" panose="020B0604020202020204" pitchFamily="34" charset="0"/>
              <a:buChar char="•"/>
              <a:defRPr/>
            </a:pPr>
            <a:r>
              <a:rPr lang="en-US" b="1"/>
              <a:t>Example: Suppose two organizations—a financial institution and a small retail store—face the same vulnerability. CVSS might rate it as severe, but for the retailer, the risk might be minimal due to fewer sensitive assets, whereas for the financial institution, it could be critical due to the high value of their data.</a:t>
            </a:r>
          </a:p>
          <a:p>
            <a:pPr marL="171450" indent="-171450">
              <a:buFont typeface="Arial" panose="020B0604020202020204" pitchFamily="34" charset="0"/>
              <a:buChar char="•"/>
              <a:defRPr/>
            </a:pPr>
            <a:r>
              <a:rPr lang="en-US" b="1"/>
              <a:t>Subjectivity: CVSS scores can vary depending on the context, leading to inconsistencies.</a:t>
            </a:r>
          </a:p>
          <a:p>
            <a:pPr marL="171450" indent="-171450">
              <a:buFont typeface="Arial" panose="020B0604020202020204" pitchFamily="34" charset="0"/>
              <a:buChar char="•"/>
              <a:defRPr/>
            </a:pPr>
            <a:r>
              <a:rPr lang="en-US" b="1"/>
              <a:t>Example: A vulnerability in a widely used software might receive a high CVSS score based on its potential impact. However, the risk might be lower if a company has strong security operation controls. Yet, another organization with weaker controls might find the same vulnerability far more threatening, leading to different assessments.</a:t>
            </a:r>
          </a:p>
          <a:p>
            <a:pPr marL="171450" indent="-171450">
              <a:buFont typeface="Arial" panose="020B0604020202020204" pitchFamily="34" charset="0"/>
              <a:buChar char="•"/>
              <a:defRPr/>
            </a:pPr>
            <a:r>
              <a:rPr lang="en-US" b="1"/>
              <a:t>Limited Scope: CVSS doesn’t fully consider the importance of specific assets or existing controls.</a:t>
            </a:r>
          </a:p>
          <a:p>
            <a:pPr marL="171450" indent="-171450">
              <a:buFont typeface="Arial" panose="020B0604020202020204" pitchFamily="34" charset="0"/>
              <a:buChar char="•"/>
              <a:defRPr/>
            </a:pPr>
            <a:r>
              <a:rPr lang="en-US" b="1"/>
              <a:t>Example: CVSS might score a vulnerability in an out-of-date software as low because it’s not internet-facing. However, if that software version is critical to a company’s operations, the low score underestimates the risk, missing the asset’s importance.</a:t>
            </a:r>
          </a:p>
          <a:p>
            <a:pPr marL="171450" indent="-171450">
              <a:buFont typeface="Arial" panose="020B0604020202020204" pitchFamily="34" charset="0"/>
              <a:buChar char="•"/>
              <a:defRPr/>
            </a:pPr>
            <a:r>
              <a:rPr lang="en-US" b="1"/>
              <a:t>Complexity: The system requires a deep understanding of scoring factors. Understanding how to calculate and interpret CVSS scores requires familiarity with several factors, such as attack vectors, complexity, and impact.</a:t>
            </a:r>
          </a:p>
          <a:p>
            <a:pPr marL="171450" indent="-171450">
              <a:buFont typeface="Arial" panose="020B0604020202020204" pitchFamily="34" charset="0"/>
              <a:buChar char="•"/>
              <a:defRPr/>
            </a:pPr>
            <a:r>
              <a:rPr lang="en-US" b="1"/>
              <a:t>Example: This complexity can lead to misinterpretations or misuse of scores for organizations without dedicated security expertise.</a:t>
            </a:r>
          </a:p>
          <a:p>
            <a:pPr marL="171450" indent="-171450">
              <a:buFont typeface="Arial" panose="020B0604020202020204" pitchFamily="34" charset="0"/>
              <a:buChar char="•"/>
              <a:defRPr/>
            </a:pPr>
            <a:r>
              <a:rPr lang="en-US" b="1"/>
              <a:t>Potential for Oversights: Relying solely on CVSS scores can lead to missed opportunities to address the most pressing threats.</a:t>
            </a:r>
          </a:p>
          <a:p>
            <a:pPr marL="171450" indent="-171450">
              <a:buFont typeface="Arial" panose="020B0604020202020204" pitchFamily="34" charset="0"/>
              <a:buChar char="•"/>
              <a:defRPr/>
            </a:pPr>
            <a:r>
              <a:rPr lang="en-US" b="1"/>
              <a:t>Example: If an organization relies solely on CVSS scores, it might overlook threats that don’t score highly but are significant in their specific context—like vulnerabilities in internal systems that an insider could exploit.</a:t>
            </a:r>
            <a:endParaRPr lang="en-ZA" b="1"/>
          </a:p>
        </p:txBody>
      </p:sp>
      <p:sp>
        <p:nvSpPr>
          <p:cNvPr id="4" name="Slide Number Placeholder 3">
            <a:extLst>
              <a:ext uri="{FF2B5EF4-FFF2-40B4-BE49-F238E27FC236}">
                <a16:creationId xmlns:a16="http://schemas.microsoft.com/office/drawing/2014/main" id="{58643152-5AFA-D77D-AA92-15599DBF3280}"/>
              </a:ext>
            </a:extLst>
          </p:cNvPr>
          <p:cNvSpPr>
            <a:spLocks noGrp="1"/>
          </p:cNvSpPr>
          <p:nvPr>
            <p:ph type="sldNum" sz="quarter" idx="5"/>
          </p:nvPr>
        </p:nvSpPr>
        <p:spPr/>
        <p:txBody>
          <a:bodyPr/>
          <a:lstStyle/>
          <a:p>
            <a:fld id="{A25D9E1E-FE82-4D89-AA6F-38F9C712A565}" type="slidenum">
              <a:rPr lang="en-ZA" smtClean="0"/>
              <a:t>13</a:t>
            </a:fld>
            <a:endParaRPr lang="en-ZA"/>
          </a:p>
        </p:txBody>
      </p:sp>
    </p:spTree>
    <p:extLst>
      <p:ext uri="{BB962C8B-B14F-4D97-AF65-F5344CB8AC3E}">
        <p14:creationId xmlns:p14="http://schemas.microsoft.com/office/powerpoint/2010/main" val="3538193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7E79-BF9D-869C-6E95-B1EBFDD6B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258CE-04BE-B1BB-52F0-AC2EA8686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AF323-532B-C8C3-CA18-7B5A6BF582FC}"/>
              </a:ext>
            </a:extLst>
          </p:cNvPr>
          <p:cNvSpPr>
            <a:spLocks noGrp="1"/>
          </p:cNvSpPr>
          <p:nvPr>
            <p:ph type="body" idx="1"/>
          </p:nvPr>
        </p:nvSpPr>
        <p:spPr/>
        <p:txBody>
          <a:bodyPr/>
          <a:lstStyle/>
          <a:p>
            <a:pPr marL="171450" indent="-171450">
              <a:buFont typeface="Arial" panose="020B0604020202020204" pitchFamily="34" charset="0"/>
              <a:buChar char="•"/>
              <a:defRPr/>
            </a:pPr>
            <a:endParaRPr lang="en-US" b="1"/>
          </a:p>
        </p:txBody>
      </p:sp>
      <p:sp>
        <p:nvSpPr>
          <p:cNvPr id="4" name="Slide Number Placeholder 3">
            <a:extLst>
              <a:ext uri="{FF2B5EF4-FFF2-40B4-BE49-F238E27FC236}">
                <a16:creationId xmlns:a16="http://schemas.microsoft.com/office/drawing/2014/main" id="{3F0F76B8-53E9-E91F-C16B-96A997DCB028}"/>
              </a:ext>
            </a:extLst>
          </p:cNvPr>
          <p:cNvSpPr>
            <a:spLocks noGrp="1"/>
          </p:cNvSpPr>
          <p:nvPr>
            <p:ph type="sldNum" sz="quarter" idx="5"/>
          </p:nvPr>
        </p:nvSpPr>
        <p:spPr/>
        <p:txBody>
          <a:bodyPr/>
          <a:lstStyle/>
          <a:p>
            <a:fld id="{A25D9E1E-FE82-4D89-AA6F-38F9C712A565}" type="slidenum">
              <a:rPr lang="en-ZA" smtClean="0"/>
              <a:t>14</a:t>
            </a:fld>
            <a:endParaRPr lang="en-ZA"/>
          </a:p>
        </p:txBody>
      </p:sp>
    </p:spTree>
    <p:extLst>
      <p:ext uri="{BB962C8B-B14F-4D97-AF65-F5344CB8AC3E}">
        <p14:creationId xmlns:p14="http://schemas.microsoft.com/office/powerpoint/2010/main" val="2243354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hyperlink" Target="https://cib.absa.africa/home/insights-and-events/remote-account-takeove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6.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Chttps:/technology.online.city.ac.uk/blogs/security-best-practices-in-software-development/" TargetMode="External"/><Relationship Id="rId3" Type="http://schemas.openxmlformats.org/officeDocument/2006/relationships/image" Target="../media/image2.svg"/><Relationship Id="rId7" Type="http://schemas.openxmlformats.org/officeDocument/2006/relationships/hyperlink" Target="https://csrc.nist.gov/pubs/sp/800/40/r4/fina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doi.org/10.6028/NIST.SP.800-40r4" TargetMode="External"/><Relationship Id="rId5" Type="http://schemas.openxmlformats.org/officeDocument/2006/relationships/hyperlink" Target="https://www.tenable.com/" TargetMode="External"/><Relationship Id="rId4" Type="http://schemas.openxmlformats.org/officeDocument/2006/relationships/hyperlink" Target="https://nvd.nist.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2" name="Group 2"/>
          <p:cNvGrpSpPr/>
          <p:nvPr/>
        </p:nvGrpSpPr>
        <p:grpSpPr>
          <a:xfrm>
            <a:off x="4944399" y="0"/>
            <a:ext cx="13343601" cy="10287000"/>
            <a:chOff x="0" y="0"/>
            <a:chExt cx="2067273" cy="1593725"/>
          </a:xfrm>
        </p:grpSpPr>
        <p:sp>
          <p:nvSpPr>
            <p:cNvPr id="3" name="Freeform 3"/>
            <p:cNvSpPr/>
            <p:nvPr/>
          </p:nvSpPr>
          <p:spPr>
            <a:xfrm>
              <a:off x="0" y="0"/>
              <a:ext cx="2067273" cy="1593725"/>
            </a:xfrm>
            <a:custGeom>
              <a:avLst/>
              <a:gdLst/>
              <a:ahLst/>
              <a:cxnLst/>
              <a:rect l="l" t="t" r="r" b="b"/>
              <a:pathLst>
                <a:path w="2067273" h="1593725">
                  <a:moveTo>
                    <a:pt x="0" y="0"/>
                  </a:moveTo>
                  <a:lnTo>
                    <a:pt x="2067273" y="0"/>
                  </a:lnTo>
                  <a:lnTo>
                    <a:pt x="2067273" y="1593725"/>
                  </a:lnTo>
                  <a:lnTo>
                    <a:pt x="0" y="1593725"/>
                  </a:lnTo>
                  <a:close/>
                </a:path>
              </a:pathLst>
            </a:custGeom>
            <a:blipFill>
              <a:blip r:embed="rId2"/>
              <a:stretch>
                <a:fillRect r="-37054"/>
              </a:stretch>
            </a:blipFill>
          </p:spPr>
          <p:txBody>
            <a:bodyPr/>
            <a:lstStyle/>
            <a:p>
              <a:endParaRPr lang="en-ZA"/>
            </a:p>
          </p:txBody>
        </p:sp>
      </p:grpSp>
      <p:sp>
        <p:nvSpPr>
          <p:cNvPr id="7" name="TextBox 7"/>
          <p:cNvSpPr txBox="1"/>
          <p:nvPr/>
        </p:nvSpPr>
        <p:spPr>
          <a:xfrm>
            <a:off x="372718" y="5364021"/>
            <a:ext cx="13140623" cy="4633641"/>
          </a:xfrm>
          <a:prstGeom prst="rect">
            <a:avLst/>
          </a:prstGeom>
        </p:spPr>
        <p:txBody>
          <a:bodyPr lIns="0" tIns="0" rIns="0" bIns="0" rtlCol="0" anchor="t">
            <a:spAutoFit/>
          </a:bodyPr>
          <a:lstStyle/>
          <a:p>
            <a:pPr>
              <a:lnSpc>
                <a:spcPts val="12598"/>
              </a:lnSpc>
            </a:pPr>
            <a:r>
              <a:rPr lang="en-US" sz="6000" b="1">
                <a:solidFill>
                  <a:srgbClr val="FFFFFF"/>
                </a:solidFill>
                <a:latin typeface="Montserrat Bold"/>
                <a:ea typeface="Montserrat Bold"/>
                <a:cs typeface="Montserrat Bold"/>
                <a:sym typeface="Montserrat Bold"/>
              </a:rPr>
              <a:t>Group 7: </a:t>
            </a:r>
            <a:endParaRPr lang="en-US">
              <a:sym typeface="Montserrat Bold"/>
            </a:endParaRPr>
          </a:p>
          <a:p>
            <a:pPr>
              <a:lnSpc>
                <a:spcPts val="12598"/>
              </a:lnSpc>
            </a:pPr>
            <a:r>
              <a:rPr lang="en-US" sz="6000" b="1">
                <a:solidFill>
                  <a:srgbClr val="FFFFFF"/>
                </a:solidFill>
                <a:latin typeface="Montserrat Bold"/>
                <a:ea typeface="Montserrat Bold"/>
                <a:cs typeface="Montserrat Bold"/>
                <a:sym typeface="Montserrat Bold"/>
              </a:rPr>
              <a:t>Vulnerability Management </a:t>
            </a:r>
            <a:r>
              <a:rPr lang="en-US" sz="6000" b="1" err="1">
                <a:solidFill>
                  <a:srgbClr val="FFFFFF"/>
                </a:solidFill>
                <a:latin typeface="Montserrat Bold"/>
                <a:ea typeface="Montserrat Bold"/>
                <a:cs typeface="Montserrat Bold"/>
                <a:sym typeface="Montserrat Bold"/>
              </a:rPr>
              <a:t>Prioritisation</a:t>
            </a:r>
            <a:r>
              <a:rPr lang="en-US" sz="6000" b="1">
                <a:solidFill>
                  <a:srgbClr val="FFFFFF"/>
                </a:solidFill>
                <a:latin typeface="Montserrat Bold"/>
                <a:ea typeface="Montserrat Bold"/>
                <a:cs typeface="Montserrat Bold"/>
                <a:sym typeface="Montserrat Bold"/>
              </a:rPr>
              <a:t> Best Practices </a:t>
            </a:r>
            <a:endParaRPr lang="en-US"/>
          </a:p>
        </p:txBody>
      </p:sp>
      <p:sp>
        <p:nvSpPr>
          <p:cNvPr id="4" name="TextBox 3">
            <a:extLst>
              <a:ext uri="{FF2B5EF4-FFF2-40B4-BE49-F238E27FC236}">
                <a16:creationId xmlns:a16="http://schemas.microsoft.com/office/drawing/2014/main" id="{B0F882F6-FF85-E477-1E9E-995D548D423D}"/>
              </a:ext>
            </a:extLst>
          </p:cNvPr>
          <p:cNvSpPr txBox="1"/>
          <p:nvPr/>
        </p:nvSpPr>
        <p:spPr>
          <a:xfrm>
            <a:off x="14717246" y="623021"/>
            <a:ext cx="3369365" cy="258532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endParaRPr lang="en-US">
              <a:solidFill>
                <a:schemeClr val="bg1"/>
              </a:solidFill>
              <a:ea typeface="Calibri"/>
              <a:cs typeface="Calibri"/>
            </a:endParaRPr>
          </a:p>
        </p:txBody>
      </p:sp>
      <p:sp>
        <p:nvSpPr>
          <p:cNvPr id="5" name="Rectangle: Rounded Corners 4">
            <a:extLst>
              <a:ext uri="{FF2B5EF4-FFF2-40B4-BE49-F238E27FC236}">
                <a16:creationId xmlns:a16="http://schemas.microsoft.com/office/drawing/2014/main" id="{57DE3F8A-AA16-6963-1ACD-545584ECC372}"/>
              </a:ext>
            </a:extLst>
          </p:cNvPr>
          <p:cNvSpPr/>
          <p:nvPr/>
        </p:nvSpPr>
        <p:spPr>
          <a:xfrm>
            <a:off x="13714772" y="626164"/>
            <a:ext cx="4367007" cy="3344353"/>
          </a:xfrm>
          <a:prstGeom prst="roundRect">
            <a:avLst/>
          </a:prstGeom>
          <a:solidFill>
            <a:schemeClr val="bg2">
              <a:lumMod val="1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bg1"/>
                </a:solidFill>
                <a:ea typeface="Calibri"/>
                <a:cs typeface="Calibri"/>
              </a:rPr>
              <a:t>Team Members:</a:t>
            </a:r>
            <a:br>
              <a:rPr lang="en-US">
                <a:solidFill>
                  <a:schemeClr val="bg1"/>
                </a:solidFill>
                <a:ea typeface="Calibri"/>
                <a:cs typeface="Calibri"/>
              </a:rPr>
            </a:br>
            <a:r>
              <a:rPr lang="en-US">
                <a:solidFill>
                  <a:schemeClr val="bg1"/>
                </a:solidFill>
                <a:ea typeface="Calibri"/>
                <a:cs typeface="Calibri"/>
              </a:rPr>
              <a:t>CHTYVE001 - </a:t>
            </a:r>
            <a:r>
              <a:rPr lang="en-US" err="1">
                <a:solidFill>
                  <a:schemeClr val="bg1"/>
                </a:solidFill>
                <a:ea typeface="Calibri"/>
                <a:cs typeface="Calibri"/>
              </a:rPr>
              <a:t>Yvershen</a:t>
            </a:r>
            <a:r>
              <a:rPr lang="en-US">
                <a:solidFill>
                  <a:schemeClr val="bg1"/>
                </a:solidFill>
                <a:ea typeface="Calibri"/>
                <a:cs typeface="Calibri"/>
              </a:rPr>
              <a:t> Chetty</a:t>
            </a:r>
            <a:endParaRPr lang="en-US">
              <a:solidFill>
                <a:srgbClr val="000000"/>
              </a:solidFill>
              <a:ea typeface="Calibri"/>
              <a:cs typeface="Calibri"/>
            </a:endParaRPr>
          </a:p>
          <a:p>
            <a:r>
              <a:rPr lang="en-US">
                <a:solidFill>
                  <a:schemeClr val="bg1"/>
                </a:solidFill>
                <a:ea typeface="Calibri"/>
                <a:cs typeface="Calibri"/>
              </a:rPr>
              <a:t>GYRADI001 – Adiel Geyer</a:t>
            </a:r>
            <a:endParaRPr lang="en-US">
              <a:solidFill>
                <a:srgbClr val="000000"/>
              </a:solidFill>
              <a:ea typeface="Calibri"/>
              <a:cs typeface="Calibri"/>
            </a:endParaRPr>
          </a:p>
          <a:p>
            <a:r>
              <a:rPr lang="en-US">
                <a:solidFill>
                  <a:schemeClr val="bg1"/>
                </a:solidFill>
                <a:ea typeface="Calibri"/>
                <a:cs typeface="Calibri"/>
              </a:rPr>
              <a:t>HCTGER001 - Gerald Hector</a:t>
            </a:r>
            <a:endParaRPr lang="en-US">
              <a:solidFill>
                <a:srgbClr val="000000"/>
              </a:solidFill>
              <a:ea typeface="Calibri"/>
              <a:cs typeface="Calibri"/>
            </a:endParaRPr>
          </a:p>
          <a:p>
            <a:r>
              <a:rPr lang="en-US">
                <a:solidFill>
                  <a:schemeClr val="bg1"/>
                </a:solidFill>
                <a:ea typeface="Calibri"/>
                <a:cs typeface="Calibri"/>
              </a:rPr>
              <a:t>KWTOLE001 - </a:t>
            </a:r>
            <a:r>
              <a:rPr lang="en-US" err="1">
                <a:solidFill>
                  <a:schemeClr val="bg1"/>
                </a:solidFill>
                <a:ea typeface="Calibri"/>
                <a:cs typeface="Calibri"/>
              </a:rPr>
              <a:t>Olesedi</a:t>
            </a:r>
            <a:r>
              <a:rPr lang="en-US">
                <a:solidFill>
                  <a:schemeClr val="bg1"/>
                </a:solidFill>
                <a:ea typeface="Calibri"/>
                <a:cs typeface="Calibri"/>
              </a:rPr>
              <a:t> </a:t>
            </a:r>
            <a:r>
              <a:rPr lang="en-US" err="1">
                <a:solidFill>
                  <a:schemeClr val="bg1"/>
                </a:solidFill>
                <a:ea typeface="Calibri"/>
                <a:cs typeface="Calibri"/>
              </a:rPr>
              <a:t>Kwetsi</a:t>
            </a:r>
            <a:endParaRPr lang="en-US" err="1">
              <a:solidFill>
                <a:srgbClr val="000000"/>
              </a:solidFill>
              <a:ea typeface="Calibri"/>
              <a:cs typeface="Calibri"/>
            </a:endParaRPr>
          </a:p>
          <a:p>
            <a:r>
              <a:rPr lang="en-US">
                <a:solidFill>
                  <a:schemeClr val="bg1"/>
                </a:solidFill>
                <a:ea typeface="Calibri"/>
                <a:cs typeface="Calibri"/>
              </a:rPr>
              <a:t>SLSEDW001 – Edwin </a:t>
            </a:r>
            <a:r>
              <a:rPr lang="en-US" err="1">
                <a:solidFill>
                  <a:schemeClr val="bg1"/>
                </a:solidFill>
                <a:ea typeface="Calibri"/>
                <a:cs typeface="Calibri"/>
              </a:rPr>
              <a:t>Saulse</a:t>
            </a:r>
            <a:r>
              <a:rPr lang="en-US">
                <a:solidFill>
                  <a:schemeClr val="bg1"/>
                </a:solidFill>
                <a:ea typeface="Calibri"/>
                <a:cs typeface="Calibri"/>
              </a:rPr>
              <a:t> </a:t>
            </a:r>
            <a:endParaRPr lang="en-US">
              <a:solidFill>
                <a:srgbClr val="000000"/>
              </a:solidFill>
              <a:ea typeface="Calibri"/>
              <a:cs typeface="Calibri"/>
            </a:endParaRPr>
          </a:p>
          <a:p>
            <a:r>
              <a:rPr lang="en-US">
                <a:solidFill>
                  <a:schemeClr val="bg1"/>
                </a:solidFill>
                <a:ea typeface="Calibri"/>
                <a:cs typeface="Calibri"/>
              </a:rPr>
              <a:t>SLSHAF001 - Hafiz </a:t>
            </a:r>
            <a:r>
              <a:rPr lang="en-US" err="1">
                <a:solidFill>
                  <a:schemeClr val="bg1"/>
                </a:solidFill>
                <a:ea typeface="Calibri"/>
                <a:cs typeface="Calibri"/>
              </a:rPr>
              <a:t>Salasa</a:t>
            </a:r>
            <a:endParaRPr lang="en-US" err="1">
              <a:solidFill>
                <a:srgbClr val="000000"/>
              </a:solidFill>
              <a:ea typeface="Calibri"/>
              <a:cs typeface="Calibri"/>
            </a:endParaRPr>
          </a:p>
          <a:p>
            <a:r>
              <a:rPr lang="en-US">
                <a:solidFill>
                  <a:schemeClr val="bg1"/>
                </a:solidFill>
                <a:ea typeface="Calibri"/>
                <a:cs typeface="Calibri"/>
              </a:rPr>
              <a:t>SSMWIL002 - Wilson </a:t>
            </a:r>
            <a:r>
              <a:rPr lang="en-US" err="1">
                <a:solidFill>
                  <a:schemeClr val="bg1"/>
                </a:solidFill>
                <a:ea typeface="Calibri"/>
                <a:cs typeface="Calibri"/>
              </a:rPr>
              <a:t>Sisimi</a:t>
            </a:r>
            <a:endParaRPr lang="en-US" err="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7149AB04-F612-5ABD-9FF6-DC13EC16A7C5}"/>
            </a:ext>
          </a:extLst>
        </p:cNvPr>
        <p:cNvGrpSpPr/>
        <p:nvPr/>
      </p:nvGrpSpPr>
      <p:grpSpPr>
        <a:xfrm>
          <a:off x="0" y="0"/>
          <a:ext cx="0" cy="0"/>
          <a:chOff x="0" y="0"/>
          <a:chExt cx="0" cy="0"/>
        </a:xfrm>
      </p:grpSpPr>
      <p:sp>
        <p:nvSpPr>
          <p:cNvPr id="15" name="Freeform 15">
            <a:extLst>
              <a:ext uri="{FF2B5EF4-FFF2-40B4-BE49-F238E27FC236}">
                <a16:creationId xmlns:a16="http://schemas.microsoft.com/office/drawing/2014/main" id="{E002860F-A37D-31F8-7D70-A93674C6B65B}"/>
              </a:ext>
            </a:extLst>
          </p:cNvPr>
          <p:cNvSpPr/>
          <p:nvPr/>
        </p:nvSpPr>
        <p:spPr>
          <a:xfrm rot="-5400362">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pic>
        <p:nvPicPr>
          <p:cNvPr id="11" name="Picture 10" descr="CVSS score | HTTPCS Blog">
            <a:extLst>
              <a:ext uri="{FF2B5EF4-FFF2-40B4-BE49-F238E27FC236}">
                <a16:creationId xmlns:a16="http://schemas.microsoft.com/office/drawing/2014/main" id="{903C2A4D-37B3-E7EB-07D4-7F1A18C654FA}"/>
              </a:ext>
            </a:extLst>
          </p:cNvPr>
          <p:cNvPicPr>
            <a:picLocks noChangeAspect="1"/>
          </p:cNvPicPr>
          <p:nvPr/>
        </p:nvPicPr>
        <p:blipFill>
          <a:blip r:embed="rId4"/>
          <a:stretch>
            <a:fillRect/>
          </a:stretch>
        </p:blipFill>
        <p:spPr>
          <a:xfrm>
            <a:off x="10298265" y="4275024"/>
            <a:ext cx="5768674" cy="5159773"/>
          </a:xfrm>
          <a:prstGeom prst="rect">
            <a:avLst/>
          </a:prstGeom>
        </p:spPr>
      </p:pic>
      <p:sp>
        <p:nvSpPr>
          <p:cNvPr id="12" name="Rectangle: Rounded Corners 11">
            <a:extLst>
              <a:ext uri="{FF2B5EF4-FFF2-40B4-BE49-F238E27FC236}">
                <a16:creationId xmlns:a16="http://schemas.microsoft.com/office/drawing/2014/main" id="{CAA2FFF4-D700-FD35-95EB-EEEC507B6848}"/>
              </a:ext>
            </a:extLst>
          </p:cNvPr>
          <p:cNvSpPr/>
          <p:nvPr/>
        </p:nvSpPr>
        <p:spPr>
          <a:xfrm>
            <a:off x="898948" y="945956"/>
            <a:ext cx="16743612" cy="2554323"/>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chemeClr val="bg1"/>
                </a:solidFill>
                <a:ea typeface="Calibri"/>
                <a:cs typeface="Calibri"/>
              </a:rPr>
              <a:t> </a:t>
            </a:r>
            <a:r>
              <a:rPr lang="en-US" sz="2000">
                <a:solidFill>
                  <a:schemeClr val="bg1"/>
                </a:solidFill>
                <a:ea typeface="Calibri"/>
                <a:cs typeface="Calibri"/>
              </a:rPr>
              <a:t>The Common Vulnerability Scoring System (CVSS v3.1) is an open, industry-standard framework used to assess and rate the severity of software vulnerabilities.</a:t>
            </a:r>
          </a:p>
          <a:p>
            <a:endParaRPr lang="en-US" sz="2000">
              <a:solidFill>
                <a:schemeClr val="bg1"/>
              </a:solidFill>
              <a:ea typeface="Calibri"/>
              <a:cs typeface="Calibri"/>
            </a:endParaRPr>
          </a:p>
          <a:p>
            <a:r>
              <a:rPr lang="en-US" sz="2000">
                <a:solidFill>
                  <a:schemeClr val="bg1"/>
                </a:solidFill>
                <a:ea typeface="Calibri"/>
                <a:cs typeface="Calibri"/>
              </a:rPr>
              <a:t>Focus: Measures the inherent severity of a vulnerability based on its technical characteristics. </a:t>
            </a:r>
          </a:p>
          <a:p>
            <a:r>
              <a:rPr lang="en-US" sz="2000">
                <a:solidFill>
                  <a:schemeClr val="bg1"/>
                </a:solidFill>
                <a:ea typeface="Calibri"/>
                <a:cs typeface="Calibri"/>
              </a:rPr>
              <a:t>Score: Ranges from 0 to 10, with 0 indicating no impact and 10 representing the most severe. </a:t>
            </a:r>
          </a:p>
          <a:p>
            <a:r>
              <a:rPr lang="en-US" sz="2000">
                <a:solidFill>
                  <a:schemeClr val="bg1"/>
                </a:solidFill>
                <a:ea typeface="Calibri"/>
                <a:cs typeface="Calibri"/>
              </a:rPr>
              <a:t>Purpose: Helps </a:t>
            </a:r>
            <a:r>
              <a:rPr lang="en-US" sz="2000" err="1">
                <a:solidFill>
                  <a:schemeClr val="bg1"/>
                </a:solidFill>
                <a:ea typeface="Calibri"/>
                <a:cs typeface="Calibri"/>
              </a:rPr>
              <a:t>organisations</a:t>
            </a:r>
            <a:r>
              <a:rPr lang="en-US" sz="2000">
                <a:solidFill>
                  <a:schemeClr val="bg1"/>
                </a:solidFill>
                <a:ea typeface="Calibri"/>
                <a:cs typeface="Calibri"/>
              </a:rPr>
              <a:t> understand the potential impact of a vulnerability on confidentiality, integrity, and availability. </a:t>
            </a:r>
          </a:p>
          <a:p>
            <a:r>
              <a:rPr lang="en-US" sz="2000">
                <a:solidFill>
                  <a:schemeClr val="bg1"/>
                </a:solidFill>
                <a:ea typeface="Calibri"/>
                <a:cs typeface="Calibri"/>
              </a:rPr>
              <a:t>Statistic: The CVSS base score remains constant regardless of whether a vulnerability is actively exploited.</a:t>
            </a:r>
          </a:p>
          <a:p>
            <a:r>
              <a:rPr lang="en-US" sz="2000">
                <a:solidFill>
                  <a:schemeClr val="bg1"/>
                </a:solidFill>
                <a:ea typeface="Calibri"/>
                <a:cs typeface="Calibri"/>
              </a:rPr>
              <a:t>NB: A CVSS metric string, Severity Score Vector is a compact, text-based representation of the specific values assigned to vulnerability metrics</a:t>
            </a:r>
          </a:p>
        </p:txBody>
      </p:sp>
      <p:pic>
        <p:nvPicPr>
          <p:cNvPr id="13" name="Picture 12" descr="CVSS Base Score Calculator - The Secure Planet">
            <a:extLst>
              <a:ext uri="{FF2B5EF4-FFF2-40B4-BE49-F238E27FC236}">
                <a16:creationId xmlns:a16="http://schemas.microsoft.com/office/drawing/2014/main" id="{6F254F37-5024-74BD-728C-BC07CE3E5745}"/>
              </a:ext>
            </a:extLst>
          </p:cNvPr>
          <p:cNvPicPr>
            <a:picLocks noChangeAspect="1"/>
          </p:cNvPicPr>
          <p:nvPr/>
        </p:nvPicPr>
        <p:blipFill>
          <a:blip r:embed="rId5"/>
          <a:stretch>
            <a:fillRect/>
          </a:stretch>
        </p:blipFill>
        <p:spPr>
          <a:xfrm>
            <a:off x="1466256" y="3737067"/>
            <a:ext cx="8082142" cy="6246038"/>
          </a:xfrm>
          <a:prstGeom prst="rect">
            <a:avLst/>
          </a:prstGeom>
        </p:spPr>
      </p:pic>
      <p:sp>
        <p:nvSpPr>
          <p:cNvPr id="4" name="TextBox 3">
            <a:extLst>
              <a:ext uri="{FF2B5EF4-FFF2-40B4-BE49-F238E27FC236}">
                <a16:creationId xmlns:a16="http://schemas.microsoft.com/office/drawing/2014/main" id="{7FF358C2-31F6-1E49-7A61-8A662E518B23}"/>
              </a:ext>
            </a:extLst>
          </p:cNvPr>
          <p:cNvSpPr txBox="1"/>
          <p:nvPr/>
        </p:nvSpPr>
        <p:spPr>
          <a:xfrm>
            <a:off x="4572000" y="10026"/>
            <a:ext cx="9144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ZA" sz="7200" b="1" i="0" u="none" strike="noStrike" baseline="0">
                <a:solidFill>
                  <a:srgbClr val="FFFFFF"/>
                </a:solidFill>
                <a:latin typeface="Montserrat Bold"/>
              </a:rPr>
              <a:t>Introduction</a:t>
            </a:r>
            <a:endParaRPr lang="en-US" sz="7200">
              <a:ea typeface="Calibri"/>
              <a:cs typeface="Calibri"/>
            </a:endParaRPr>
          </a:p>
          <a:p>
            <a:pPr algn="ctr"/>
            <a:endParaRPr lang="en-US"/>
          </a:p>
        </p:txBody>
      </p:sp>
    </p:spTree>
    <p:extLst>
      <p:ext uri="{BB962C8B-B14F-4D97-AF65-F5344CB8AC3E}">
        <p14:creationId xmlns:p14="http://schemas.microsoft.com/office/powerpoint/2010/main" val="3149017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6055FA95-A6BD-A24A-AC58-2499357909F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D5DD31D3-FC4F-737B-4663-D0027ADB7547}"/>
              </a:ext>
            </a:extLst>
          </p:cNvPr>
          <p:cNvSpPr txBox="1"/>
          <p:nvPr/>
        </p:nvSpPr>
        <p:spPr>
          <a:xfrm>
            <a:off x="1631308" y="6955182"/>
            <a:ext cx="7277950" cy="2303118"/>
          </a:xfrm>
          <a:prstGeom prst="rect">
            <a:avLst/>
          </a:prstGeom>
        </p:spPr>
        <p:txBody>
          <a:bodyPr lIns="362344" tIns="362344" rIns="362344" bIns="362344" rtlCol="0" anchor="ctr"/>
          <a:lstStyle/>
          <a:p>
            <a:pPr algn="ctr">
              <a:lnSpc>
                <a:spcPts val="2659"/>
              </a:lnSpc>
            </a:pPr>
            <a:endParaRPr/>
          </a:p>
        </p:txBody>
      </p:sp>
      <p:sp>
        <p:nvSpPr>
          <p:cNvPr id="15" name="Freeform 15">
            <a:extLst>
              <a:ext uri="{FF2B5EF4-FFF2-40B4-BE49-F238E27FC236}">
                <a16:creationId xmlns:a16="http://schemas.microsoft.com/office/drawing/2014/main" id="{D353AD99-3E9A-8F68-02E8-2195C28FE9AB}"/>
              </a:ext>
            </a:extLst>
          </p:cNvPr>
          <p:cNvSpPr/>
          <p:nvPr/>
        </p:nvSpPr>
        <p:spPr>
          <a:xfrm rot="-5400362">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6" name="TextBox 16">
            <a:extLst>
              <a:ext uri="{FF2B5EF4-FFF2-40B4-BE49-F238E27FC236}">
                <a16:creationId xmlns:a16="http://schemas.microsoft.com/office/drawing/2014/main" id="{A2F2844E-809A-D6BD-BF57-24EB1B48124C}"/>
              </a:ext>
            </a:extLst>
          </p:cNvPr>
          <p:cNvSpPr txBox="1"/>
          <p:nvPr/>
        </p:nvSpPr>
        <p:spPr>
          <a:xfrm>
            <a:off x="710071" y="-2726"/>
            <a:ext cx="15876294" cy="2932726"/>
          </a:xfrm>
          <a:prstGeom prst="rect">
            <a:avLst/>
          </a:prstGeom>
        </p:spPr>
        <p:txBody>
          <a:bodyPr wrap="square" lIns="0" tIns="0" rIns="0" bIns="0" rtlCol="0" anchor="t">
            <a:spAutoFit/>
          </a:bodyPr>
          <a:lstStyle/>
          <a:p>
            <a:pPr algn="ctr"/>
            <a:r>
              <a:rPr lang="en-ZA" sz="6600" b="1">
                <a:solidFill>
                  <a:srgbClr val="FFFFFF"/>
                </a:solidFill>
                <a:latin typeface="Montserrat Bold"/>
                <a:sym typeface="Montserrat Bold"/>
              </a:rPr>
              <a:t>CVE-2026-24294: Windows SMB Server Privilege Escalation</a:t>
            </a:r>
            <a:endParaRPr lang="en-US" sz="6600">
              <a:sym typeface="Montserrat Bold"/>
            </a:endParaRPr>
          </a:p>
          <a:p>
            <a:pPr algn="ctr">
              <a:lnSpc>
                <a:spcPts val="6998"/>
              </a:lnSpc>
            </a:pPr>
            <a:endParaRPr lang="en-ZA" sz="7200" b="1">
              <a:solidFill>
                <a:srgbClr val="FFFFFF"/>
              </a:solidFill>
              <a:latin typeface="Montserrat Bold"/>
              <a:ea typeface="Montserrat Bold"/>
              <a:cs typeface="Montserrat Bold"/>
            </a:endParaRPr>
          </a:p>
        </p:txBody>
      </p:sp>
      <p:pic>
        <p:nvPicPr>
          <p:cNvPr id="7" name="Picture 6" descr="A screenshot of a phone&#10;&#10;AI-generated content may be incorrect.">
            <a:extLst>
              <a:ext uri="{FF2B5EF4-FFF2-40B4-BE49-F238E27FC236}">
                <a16:creationId xmlns:a16="http://schemas.microsoft.com/office/drawing/2014/main" id="{2CD226CC-CFBB-C2C6-C2BB-A0916CA47FB7}"/>
              </a:ext>
            </a:extLst>
          </p:cNvPr>
          <p:cNvPicPr>
            <a:picLocks noChangeAspect="1"/>
          </p:cNvPicPr>
          <p:nvPr/>
        </p:nvPicPr>
        <p:blipFill>
          <a:blip r:embed="rId4"/>
          <a:srcRect r="-1472" b="28267"/>
          <a:stretch>
            <a:fillRect/>
          </a:stretch>
        </p:blipFill>
        <p:spPr>
          <a:xfrm>
            <a:off x="300320" y="2724918"/>
            <a:ext cx="5677959" cy="5386721"/>
          </a:xfrm>
          <a:prstGeom prst="rect">
            <a:avLst/>
          </a:prstGeom>
        </p:spPr>
      </p:pic>
      <p:pic>
        <p:nvPicPr>
          <p:cNvPr id="8" name="Picture 7" descr="A dog wearing a hoodie&#10;&#10;AI-generated content may be incorrect.">
            <a:extLst>
              <a:ext uri="{FF2B5EF4-FFF2-40B4-BE49-F238E27FC236}">
                <a16:creationId xmlns:a16="http://schemas.microsoft.com/office/drawing/2014/main" id="{B99A88A6-833F-C661-0D06-85D5DB30524C}"/>
              </a:ext>
            </a:extLst>
          </p:cNvPr>
          <p:cNvPicPr>
            <a:picLocks noChangeAspect="1"/>
          </p:cNvPicPr>
          <p:nvPr/>
        </p:nvPicPr>
        <p:blipFill>
          <a:blip r:embed="rId5"/>
          <a:stretch>
            <a:fillRect/>
          </a:stretch>
        </p:blipFill>
        <p:spPr>
          <a:xfrm>
            <a:off x="13671052" y="2710961"/>
            <a:ext cx="4368816" cy="5758962"/>
          </a:xfrm>
          <a:prstGeom prst="rect">
            <a:avLst/>
          </a:prstGeom>
        </p:spPr>
      </p:pic>
      <p:sp>
        <p:nvSpPr>
          <p:cNvPr id="3" name="Rectangle: Rounded Corners 2">
            <a:extLst>
              <a:ext uri="{FF2B5EF4-FFF2-40B4-BE49-F238E27FC236}">
                <a16:creationId xmlns:a16="http://schemas.microsoft.com/office/drawing/2014/main" id="{2346664B-36E8-146F-18DA-4A499C075BB4}"/>
              </a:ext>
            </a:extLst>
          </p:cNvPr>
          <p:cNvSpPr/>
          <p:nvPr/>
        </p:nvSpPr>
        <p:spPr>
          <a:xfrm>
            <a:off x="6192956" y="1998143"/>
            <a:ext cx="7482294" cy="7976506"/>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rtl="0"/>
            <a:r>
              <a:rPr lang="en-US" b="1"/>
              <a:t>CVE-2026-24294 </a:t>
            </a:r>
            <a:r>
              <a:rPr lang="en-US"/>
              <a:t>is an improper authentication vulnerability in Windows SMB Server that allows an </a:t>
            </a:r>
            <a:r>
              <a:rPr lang="en-US" err="1"/>
              <a:t>authorised</a:t>
            </a:r>
            <a:r>
              <a:rPr lang="en-US"/>
              <a:t> attacker to elevate privileges locally. The SMB Server fails to properly validate authentication credentials or session tokens, enabling local users to gain elevated system privileges beyond their </a:t>
            </a:r>
            <a:r>
              <a:rPr lang="en-US" err="1"/>
              <a:t>authorised</a:t>
            </a:r>
            <a:r>
              <a:rPr lang="en-US"/>
              <a:t> access level.​</a:t>
            </a:r>
          </a:p>
          <a:p>
            <a:pPr algn="l" rtl="0"/>
            <a:r>
              <a:rPr lang="en-US"/>
              <a:t>​</a:t>
            </a:r>
          </a:p>
          <a:p>
            <a:pPr algn="l" rtl="0"/>
            <a:r>
              <a:rPr lang="en-US" b="1"/>
              <a:t>Affected Products ​</a:t>
            </a:r>
            <a:endParaRPr lang="en-US" b="1">
              <a:ea typeface="Calibri"/>
              <a:cs typeface="Calibri"/>
            </a:endParaRPr>
          </a:p>
          <a:p>
            <a:pPr algn="l" rtl="0"/>
            <a:r>
              <a:rPr lang="en-US"/>
              <a:t>Windows SMB Server ​</a:t>
            </a:r>
          </a:p>
          <a:p>
            <a:pPr algn="l" rtl="0"/>
            <a:r>
              <a:rPr lang="en-US"/>
              <a:t>Windows Operating Systems with SMB Server enabled ​</a:t>
            </a:r>
          </a:p>
          <a:p>
            <a:pPr algn="l" rtl="0"/>
            <a:r>
              <a:rPr lang="en-US"/>
              <a:t>Microsoft Windows Server and Desktop editions with SMB services​</a:t>
            </a:r>
          </a:p>
          <a:p>
            <a:pPr algn="l" rtl="0"/>
            <a:r>
              <a:rPr lang="en-US"/>
              <a:t>​</a:t>
            </a:r>
          </a:p>
          <a:p>
            <a:pPr algn="l" rtl="0"/>
            <a:r>
              <a:rPr lang="en-US" b="1"/>
              <a:t>Discovery Timeline ​</a:t>
            </a:r>
            <a:endParaRPr lang="en-US" b="1">
              <a:ea typeface="Calibri"/>
              <a:cs typeface="Calibri"/>
            </a:endParaRPr>
          </a:p>
          <a:p>
            <a:pPr algn="l" rtl="0"/>
            <a:r>
              <a:rPr lang="en-US"/>
              <a:t>March 10, 2026 - CVE-2026-24294 published to NVD ​</a:t>
            </a:r>
          </a:p>
          <a:p>
            <a:pPr algn="l" rtl="0"/>
            <a:endParaRPr lang="en-US">
              <a:ea typeface="Calibri"/>
              <a:cs typeface="Calibri"/>
            </a:endParaRPr>
          </a:p>
          <a:p>
            <a:r>
              <a:rPr lang="en-US">
                <a:ea typeface="Calibri"/>
                <a:cs typeface="Calibri"/>
              </a:rPr>
              <a:t>Relevance in South Africa</a:t>
            </a:r>
            <a:endParaRPr lang="en-US"/>
          </a:p>
          <a:p>
            <a:r>
              <a:rPr lang="en-US"/>
              <a:t>​Window Server Operating Systems are used in most </a:t>
            </a:r>
            <a:r>
              <a:rPr lang="en-US" err="1"/>
              <a:t>organisations</a:t>
            </a:r>
            <a:r>
              <a:rPr lang="en-US"/>
              <a:t> across South Africa. Critical Infrastructure  such as Eskom relies on the above-mentioned underlying systems</a:t>
            </a:r>
            <a:endParaRPr lang="en-US">
              <a:ea typeface="Calibri"/>
              <a:cs typeface="Calibri"/>
            </a:endParaRPr>
          </a:p>
          <a:p>
            <a:endParaRPr lang="en-US"/>
          </a:p>
          <a:p>
            <a:pPr algn="l" rtl="0"/>
            <a:r>
              <a:rPr lang="en-US" b="1"/>
              <a:t>Immediate Actions ​</a:t>
            </a:r>
            <a:endParaRPr lang="en-US" b="1">
              <a:ea typeface="Calibri"/>
              <a:cs typeface="Calibri"/>
            </a:endParaRPr>
          </a:p>
          <a:p>
            <a:pPr algn="l" rtl="0"/>
            <a:r>
              <a:rPr lang="en-US"/>
              <a:t>Apply the latest Microsoft security updates addressing CVE-2026-24294 as soon as available​</a:t>
            </a:r>
            <a:endParaRPr lang="en-US">
              <a:ea typeface="Calibri"/>
              <a:cs typeface="Calibri"/>
            </a:endParaRPr>
          </a:p>
          <a:p>
            <a:pPr algn="l" rtl="0"/>
            <a:r>
              <a:rPr lang="en-US"/>
              <a:t>​</a:t>
            </a:r>
          </a:p>
          <a:p>
            <a:pPr algn="l" rtl="0"/>
            <a:r>
              <a:rPr lang="en-US" b="1"/>
              <a:t>Workarounds ​</a:t>
            </a:r>
            <a:endParaRPr lang="en-US" b="1">
              <a:ea typeface="Calibri"/>
              <a:cs typeface="Calibri"/>
            </a:endParaRPr>
          </a:p>
          <a:p>
            <a:pPr algn="l" rtl="0"/>
            <a:r>
              <a:rPr lang="en-US"/>
              <a:t>Disable SMB Server services on systems where the functionality is not required Implement strict network segmentation to limit access to SMB-enabled systems Apply the principle of least privilege to all user accounts with local access </a:t>
            </a:r>
            <a:endParaRPr lang="en-US">
              <a:ea typeface="Calibri"/>
              <a:cs typeface="Calibri"/>
            </a:endParaRPr>
          </a:p>
        </p:txBody>
      </p:sp>
    </p:spTree>
    <p:extLst>
      <p:ext uri="{BB962C8B-B14F-4D97-AF65-F5344CB8AC3E}">
        <p14:creationId xmlns:p14="http://schemas.microsoft.com/office/powerpoint/2010/main" val="1199723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10" name="Group 10"/>
          <p:cNvGrpSpPr/>
          <p:nvPr/>
        </p:nvGrpSpPr>
        <p:grpSpPr>
          <a:xfrm>
            <a:off x="2161237" y="8777341"/>
            <a:ext cx="5437852" cy="185913"/>
            <a:chOff x="0" y="0"/>
            <a:chExt cx="200791" cy="6865"/>
          </a:xfrm>
        </p:grpSpPr>
        <p:sp>
          <p:nvSpPr>
            <p:cNvPr id="11" name="Freeform 11"/>
            <p:cNvSpPr/>
            <p:nvPr/>
          </p:nvSpPr>
          <p:spPr>
            <a:xfrm>
              <a:off x="0" y="0"/>
              <a:ext cx="200791" cy="6865"/>
            </a:xfrm>
            <a:custGeom>
              <a:avLst/>
              <a:gdLst/>
              <a:ahLst/>
              <a:cxnLst/>
              <a:rect l="l" t="t" r="r" b="b"/>
              <a:pathLst>
                <a:path w="200791" h="6865">
                  <a:moveTo>
                    <a:pt x="0" y="0"/>
                  </a:moveTo>
                  <a:lnTo>
                    <a:pt x="200791" y="0"/>
                  </a:lnTo>
                  <a:lnTo>
                    <a:pt x="200791" y="6865"/>
                  </a:lnTo>
                  <a:lnTo>
                    <a:pt x="0" y="6865"/>
                  </a:lnTo>
                  <a:close/>
                </a:path>
              </a:pathLst>
            </a:custGeom>
            <a:solidFill>
              <a:srgbClr val="02060F"/>
            </a:solidFill>
          </p:spPr>
          <p:txBody>
            <a:bodyPr/>
            <a:lstStyle/>
            <a:p>
              <a:endParaRPr lang="en-ZA"/>
            </a:p>
          </p:txBody>
        </p:sp>
        <p:sp>
          <p:nvSpPr>
            <p:cNvPr id="12" name="TextBox 12"/>
            <p:cNvSpPr txBox="1"/>
            <p:nvPr/>
          </p:nvSpPr>
          <p:spPr>
            <a:xfrm>
              <a:off x="0" y="-38100"/>
              <a:ext cx="200791" cy="44965"/>
            </a:xfrm>
            <a:prstGeom prst="rect">
              <a:avLst/>
            </a:prstGeom>
          </p:spPr>
          <p:txBody>
            <a:bodyPr lIns="362344" tIns="362344" rIns="362344" bIns="362344" rtlCol="0" anchor="ctr"/>
            <a:lstStyle/>
            <a:p>
              <a:pPr algn="ctr">
                <a:lnSpc>
                  <a:spcPts val="2659"/>
                </a:lnSpc>
              </a:pPr>
              <a:endParaRPr/>
            </a:p>
          </p:txBody>
        </p:sp>
      </p:grpSp>
      <p:sp>
        <p:nvSpPr>
          <p:cNvPr id="15" name="Freeform 15"/>
          <p:cNvSpPr/>
          <p:nvPr/>
        </p:nvSpPr>
        <p:spPr>
          <a:xfrm rot="16199638">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16" name="TextBox 16"/>
          <p:cNvSpPr txBox="1"/>
          <p:nvPr/>
        </p:nvSpPr>
        <p:spPr>
          <a:xfrm>
            <a:off x="435471" y="358881"/>
            <a:ext cx="8893917" cy="4435125"/>
          </a:xfrm>
          <a:prstGeom prst="rect">
            <a:avLst/>
          </a:prstGeom>
        </p:spPr>
        <p:txBody>
          <a:bodyPr lIns="0" tIns="0" rIns="0" bIns="0" rtlCol="0" anchor="t">
            <a:spAutoFit/>
          </a:bodyPr>
          <a:lstStyle/>
          <a:p>
            <a:pPr>
              <a:lnSpc>
                <a:spcPts val="6998"/>
              </a:lnSpc>
            </a:pPr>
            <a:r>
              <a:rPr lang="en-US" sz="4800" b="1">
                <a:solidFill>
                  <a:srgbClr val="FFFFFF"/>
                </a:solidFill>
                <a:latin typeface="Montserrat Bold"/>
                <a:ea typeface="Calibri"/>
                <a:cs typeface="JasmineUPC"/>
              </a:rPr>
              <a:t>CVE-2025-23206 (AWS-CDK) TLS Certificate Validation Disabled, MITM Risk, and CVSS 8.1 Explained</a:t>
            </a:r>
          </a:p>
        </p:txBody>
      </p:sp>
      <p:sp>
        <p:nvSpPr>
          <p:cNvPr id="21" name="Content Placeholder 3">
            <a:extLst>
              <a:ext uri="{FF2B5EF4-FFF2-40B4-BE49-F238E27FC236}">
                <a16:creationId xmlns:a16="http://schemas.microsoft.com/office/drawing/2014/main" id="{5DD086B5-44D7-58B4-A7F1-D0E9FF0D97F7}"/>
              </a:ext>
            </a:extLst>
          </p:cNvPr>
          <p:cNvSpPr>
            <a:spLocks noGrp="1"/>
          </p:cNvSpPr>
          <p:nvPr/>
        </p:nvSpPr>
        <p:spPr>
          <a:xfrm>
            <a:off x="8890946" y="1657400"/>
            <a:ext cx="9041356" cy="6979710"/>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2400" b="1" u="sng">
                <a:solidFill>
                  <a:schemeClr val="bg1"/>
                </a:solidFill>
                <a:latin typeface="Calibri"/>
                <a:ea typeface="Calibri"/>
                <a:cs typeface="Calibri"/>
              </a:rPr>
              <a:t>Vulnerability Overview</a:t>
            </a:r>
          </a:p>
          <a:p>
            <a:pPr marL="0" lvl="1" indent="0">
              <a:buNone/>
            </a:pPr>
            <a:r>
              <a:rPr lang="en-US" sz="2400">
                <a:solidFill>
                  <a:schemeClr val="bg1"/>
                </a:solidFill>
                <a:ea typeface="+mn-lt"/>
                <a:cs typeface="+mn-lt"/>
              </a:rPr>
              <a:t>CVE‑2025‑23206 disables TLS certificate validation in AWS CDK,  creating a risk of man‑in‑the‑middle (MITM) attacks in cloud environments widely used by South African </a:t>
            </a:r>
            <a:r>
              <a:rPr lang="en-US" sz="2400" err="1">
                <a:solidFill>
                  <a:schemeClr val="bg1"/>
                </a:solidFill>
                <a:ea typeface="+mn-lt"/>
                <a:cs typeface="+mn-lt"/>
              </a:rPr>
              <a:t>organisations</a:t>
            </a:r>
            <a:r>
              <a:rPr lang="en-US" sz="2400">
                <a:solidFill>
                  <a:schemeClr val="bg1"/>
                </a:solidFill>
                <a:ea typeface="+mn-lt"/>
                <a:cs typeface="+mn-lt"/>
              </a:rPr>
              <a:t>.</a:t>
            </a:r>
          </a:p>
          <a:p>
            <a:pPr marL="0" lvl="1" indent="0">
              <a:buNone/>
            </a:pPr>
            <a:r>
              <a:rPr lang="en-US" sz="2400">
                <a:solidFill>
                  <a:schemeClr val="bg1"/>
                </a:solidFill>
                <a:latin typeface="Calibri"/>
                <a:ea typeface="Calibri"/>
                <a:cs typeface="Calibri"/>
              </a:rPr>
              <a:t>CVSS:3.1/AV:N/AC:L/PR:L/UI:N/S:U/C:H/I:H/A:N</a:t>
            </a:r>
            <a:endParaRPr lang="en-US"/>
          </a:p>
          <a:p>
            <a:pPr marL="0" indent="0">
              <a:spcBef>
                <a:spcPts val="2500"/>
              </a:spcBef>
              <a:buFont typeface="Arial" panose="020B0604020202020204" pitchFamily="34" charset="0"/>
              <a:buNone/>
            </a:pPr>
            <a:r>
              <a:rPr lang="en-US" sz="2400" b="1" u="sng">
                <a:solidFill>
                  <a:schemeClr val="bg1"/>
                </a:solidFill>
                <a:latin typeface="Calibri"/>
                <a:ea typeface="Calibri"/>
                <a:cs typeface="Calibri"/>
              </a:rPr>
              <a:t>Security Impact</a:t>
            </a:r>
          </a:p>
          <a:p>
            <a:pPr marL="0" lvl="1" indent="0">
              <a:buFont typeface="Arial" panose="020B0604020202020204" pitchFamily="34" charset="0"/>
              <a:buNone/>
            </a:pPr>
            <a:r>
              <a:rPr lang="en-US" sz="2400">
                <a:solidFill>
                  <a:schemeClr val="bg1"/>
                </a:solidFill>
                <a:latin typeface="Calibri"/>
                <a:ea typeface="Calibri"/>
                <a:cs typeface="Calibri"/>
              </a:rPr>
              <a:t>Man-in-the-middle attacks can intercept and spoof certificates, compromising authentication trust.</a:t>
            </a:r>
          </a:p>
          <a:p>
            <a:pPr marL="0" indent="0">
              <a:spcBef>
                <a:spcPts val="2500"/>
              </a:spcBef>
              <a:buFont typeface="Arial" panose="020B0604020202020204" pitchFamily="34" charset="0"/>
              <a:buNone/>
            </a:pPr>
            <a:r>
              <a:rPr lang="en-US" sz="2400" b="1" u="sng">
                <a:solidFill>
                  <a:schemeClr val="bg1"/>
                </a:solidFill>
                <a:latin typeface="Calibri"/>
                <a:ea typeface="Calibri"/>
                <a:cs typeface="Calibri"/>
              </a:rPr>
              <a:t>CVSS Score Explanation</a:t>
            </a:r>
          </a:p>
          <a:p>
            <a:pPr marL="0" lvl="1" indent="0">
              <a:buFont typeface="Arial" panose="020B0604020202020204" pitchFamily="34" charset="0"/>
              <a:buNone/>
            </a:pPr>
            <a:r>
              <a:rPr lang="en-US" sz="2400">
                <a:solidFill>
                  <a:schemeClr val="bg1"/>
                </a:solidFill>
                <a:latin typeface="Calibri"/>
                <a:ea typeface="Calibri"/>
                <a:cs typeface="Calibri"/>
              </a:rPr>
              <a:t>The vulnerability scores 8.1 high due to network reachability and high confidentiality and integrity impact.</a:t>
            </a:r>
          </a:p>
          <a:p>
            <a:pPr marL="0" indent="0">
              <a:spcBef>
                <a:spcPts val="2500"/>
              </a:spcBef>
              <a:buFont typeface="Arial" panose="020B0604020202020204" pitchFamily="34" charset="0"/>
              <a:buNone/>
            </a:pPr>
            <a:r>
              <a:rPr lang="en-US" sz="2400" b="1" u="sng">
                <a:solidFill>
                  <a:schemeClr val="bg1"/>
                </a:solidFill>
                <a:latin typeface="Calibri"/>
                <a:ea typeface="Calibri"/>
                <a:cs typeface="Calibri"/>
              </a:rPr>
              <a:t>Recommended Mitigation</a:t>
            </a:r>
          </a:p>
          <a:p>
            <a:pPr marL="0" lvl="1" indent="0">
              <a:buFont typeface="Arial" panose="020B0604020202020204" pitchFamily="34" charset="0"/>
              <a:buNone/>
            </a:pPr>
            <a:r>
              <a:rPr lang="en-US" sz="2400">
                <a:solidFill>
                  <a:schemeClr val="bg1"/>
                </a:solidFill>
                <a:latin typeface="Calibri"/>
                <a:ea typeface="Calibri"/>
                <a:cs typeface="Calibri"/>
              </a:rPr>
              <a:t>Upgrade AWS CDK and enable feature flag to enforce certificate validation and secure deployments.</a:t>
            </a:r>
          </a:p>
          <a:p>
            <a:pPr marL="0" lvl="1" indent="0">
              <a:buNone/>
            </a:pPr>
            <a:endParaRPr lang="en-US" sz="2400">
              <a:solidFill>
                <a:schemeClr val="bg1"/>
              </a:solidFill>
              <a:latin typeface="Calibri"/>
              <a:ea typeface="Calibri"/>
              <a:cs typeface="Calibri"/>
            </a:endParaRPr>
          </a:p>
          <a:p>
            <a:pPr marL="0" lvl="1" indent="0">
              <a:buNone/>
            </a:pPr>
            <a:endParaRPr lang="en-US" sz="2400">
              <a:solidFill>
                <a:schemeClr val="bg1"/>
              </a:solidFill>
              <a:latin typeface="Calibri"/>
              <a:ea typeface="Calibri"/>
              <a:cs typeface="Calibri"/>
            </a:endParaRPr>
          </a:p>
          <a:p>
            <a:pPr marL="0" lvl="1" indent="0">
              <a:buNone/>
            </a:pPr>
            <a:endParaRPr lang="en-US" sz="2400">
              <a:solidFill>
                <a:schemeClr val="bg1"/>
              </a:solidFill>
              <a:latin typeface="Calibri"/>
              <a:ea typeface="Calibri"/>
              <a:cs typeface="Calibri"/>
            </a:endParaRPr>
          </a:p>
          <a:p>
            <a:pPr marL="0" lvl="1" indent="0">
              <a:buNone/>
            </a:pPr>
            <a:endParaRPr lang="en-US" sz="2400">
              <a:solidFill>
                <a:schemeClr val="bg1"/>
              </a:solidFill>
              <a:latin typeface="Calibri"/>
              <a:ea typeface="Calibri"/>
              <a:cs typeface="Calibri"/>
            </a:endParaRPr>
          </a:p>
        </p:txBody>
      </p:sp>
      <p:pic>
        <p:nvPicPr>
          <p:cNvPr id="2" name="Picture 1" descr="A diagram of a person in a hoodie and a computer&#10;&#10;AI-generated content may be incorrect.">
            <a:extLst>
              <a:ext uri="{FF2B5EF4-FFF2-40B4-BE49-F238E27FC236}">
                <a16:creationId xmlns:a16="http://schemas.microsoft.com/office/drawing/2014/main" id="{667252AB-B1B0-25B3-D00B-62C998D1865B}"/>
              </a:ext>
            </a:extLst>
          </p:cNvPr>
          <p:cNvPicPr>
            <a:picLocks noChangeAspect="1"/>
          </p:cNvPicPr>
          <p:nvPr/>
        </p:nvPicPr>
        <p:blipFill>
          <a:blip r:embed="rId3"/>
          <a:stretch>
            <a:fillRect/>
          </a:stretch>
        </p:blipFill>
        <p:spPr>
          <a:xfrm>
            <a:off x="549998" y="4963185"/>
            <a:ext cx="7421578" cy="4661026"/>
          </a:xfrm>
          <a:prstGeom prst="rect">
            <a:avLst/>
          </a:prstGeom>
        </p:spPr>
      </p:pic>
    </p:spTree>
    <p:extLst>
      <p:ext uri="{BB962C8B-B14F-4D97-AF65-F5344CB8AC3E}">
        <p14:creationId xmlns:p14="http://schemas.microsoft.com/office/powerpoint/2010/main" val="326724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C5689018-3942-CC2B-A094-AA7B0AF9621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CFD4882F-2A05-08C9-D1B3-A0887BECCD7C}"/>
              </a:ext>
            </a:extLst>
          </p:cNvPr>
          <p:cNvSpPr txBox="1"/>
          <p:nvPr/>
        </p:nvSpPr>
        <p:spPr>
          <a:xfrm>
            <a:off x="1631308" y="6955182"/>
            <a:ext cx="7277950" cy="2303118"/>
          </a:xfrm>
          <a:prstGeom prst="rect">
            <a:avLst/>
          </a:prstGeom>
        </p:spPr>
        <p:txBody>
          <a:bodyPr lIns="362344" tIns="362344" rIns="362344" bIns="362344" rtlCol="0" anchor="ctr"/>
          <a:lstStyle/>
          <a:p>
            <a:pPr algn="ctr">
              <a:lnSpc>
                <a:spcPts val="2659"/>
              </a:lnSpc>
            </a:pPr>
            <a:endParaRPr/>
          </a:p>
        </p:txBody>
      </p:sp>
      <p:sp>
        <p:nvSpPr>
          <p:cNvPr id="15" name="Freeform 15">
            <a:extLst>
              <a:ext uri="{FF2B5EF4-FFF2-40B4-BE49-F238E27FC236}">
                <a16:creationId xmlns:a16="http://schemas.microsoft.com/office/drawing/2014/main" id="{4CD0EA4D-52C6-33D8-C715-83473B758906}"/>
              </a:ext>
            </a:extLst>
          </p:cNvPr>
          <p:cNvSpPr/>
          <p:nvPr/>
        </p:nvSpPr>
        <p:spPr>
          <a:xfrm rot="-5400362">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6" name="TextBox 16">
            <a:extLst>
              <a:ext uri="{FF2B5EF4-FFF2-40B4-BE49-F238E27FC236}">
                <a16:creationId xmlns:a16="http://schemas.microsoft.com/office/drawing/2014/main" id="{74CE97DC-279A-6BC0-3C19-0E3FD3240FBB}"/>
              </a:ext>
            </a:extLst>
          </p:cNvPr>
          <p:cNvSpPr txBox="1"/>
          <p:nvPr/>
        </p:nvSpPr>
        <p:spPr>
          <a:xfrm>
            <a:off x="309018" y="338169"/>
            <a:ext cx="16277347" cy="1886286"/>
          </a:xfrm>
          <a:prstGeom prst="rect">
            <a:avLst/>
          </a:prstGeom>
        </p:spPr>
        <p:txBody>
          <a:bodyPr wrap="square" lIns="0" tIns="0" rIns="0" bIns="0" rtlCol="0" anchor="t">
            <a:spAutoFit/>
          </a:bodyPr>
          <a:lstStyle/>
          <a:p>
            <a:pPr algn="ctr"/>
            <a:r>
              <a:rPr lang="en-ZA" sz="3200" b="1">
                <a:solidFill>
                  <a:srgbClr val="FFFFFF"/>
                </a:solidFill>
                <a:latin typeface="Montserrat Bold"/>
                <a:sym typeface="Montserrat Bold"/>
              </a:rPr>
              <a:t>CVE-2026-4662: </a:t>
            </a:r>
            <a:r>
              <a:rPr lang="en-ZA" sz="3200" b="1" err="1">
                <a:solidFill>
                  <a:srgbClr val="FFFFFF"/>
                </a:solidFill>
                <a:latin typeface="Montserrat Bold"/>
                <a:sym typeface="Montserrat Bold"/>
              </a:rPr>
              <a:t>JetEngine</a:t>
            </a:r>
            <a:r>
              <a:rPr lang="en-ZA" sz="3200" b="1">
                <a:solidFill>
                  <a:srgbClr val="FFFFFF"/>
                </a:solidFill>
                <a:latin typeface="Montserrat Bold"/>
                <a:sym typeface="Montserrat Bold"/>
              </a:rPr>
              <a:t> WordPress Plugin SQLi Vulnerability</a:t>
            </a:r>
            <a:endParaRPr lang="en-US" sz="3200">
              <a:ea typeface="Calibri"/>
              <a:cs typeface="Calibri"/>
            </a:endParaRPr>
          </a:p>
          <a:p>
            <a:pPr algn="ctr"/>
            <a:endParaRPr lang="en-ZA" sz="3200" b="1">
              <a:solidFill>
                <a:srgbClr val="FFFFFF"/>
              </a:solidFill>
              <a:latin typeface="Montserrat Bold"/>
            </a:endParaRPr>
          </a:p>
          <a:p>
            <a:pPr algn="ctr">
              <a:lnSpc>
                <a:spcPts val="6998"/>
              </a:lnSpc>
            </a:pPr>
            <a:endParaRPr lang="en-ZA" sz="7200" b="1">
              <a:solidFill>
                <a:srgbClr val="FFFFFF"/>
              </a:solidFill>
              <a:latin typeface="Montserrat Bold"/>
              <a:ea typeface="Montserrat Bold"/>
              <a:cs typeface="Montserrat Bold"/>
            </a:endParaRPr>
          </a:p>
        </p:txBody>
      </p:sp>
      <p:sp>
        <p:nvSpPr>
          <p:cNvPr id="3" name="Rectangle: Rounded Corners 2">
            <a:extLst>
              <a:ext uri="{FF2B5EF4-FFF2-40B4-BE49-F238E27FC236}">
                <a16:creationId xmlns:a16="http://schemas.microsoft.com/office/drawing/2014/main" id="{3E8B1B6D-F71D-E0F8-D232-990937B92E3C}"/>
              </a:ext>
            </a:extLst>
          </p:cNvPr>
          <p:cNvSpPr/>
          <p:nvPr/>
        </p:nvSpPr>
        <p:spPr>
          <a:xfrm>
            <a:off x="919115" y="1276248"/>
            <a:ext cx="11954028" cy="8397609"/>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a:solidFill>
                  <a:srgbClr val="FFFFFF"/>
                </a:solidFill>
                <a:ea typeface="+mn-lt"/>
                <a:cs typeface="+mn-lt"/>
              </a:rPr>
              <a:t>CVE-2026-4662 The </a:t>
            </a:r>
            <a:r>
              <a:rPr lang="en-US" sz="2000" b="1" err="1">
                <a:solidFill>
                  <a:srgbClr val="FFFFFF"/>
                </a:solidFill>
                <a:ea typeface="+mn-lt"/>
                <a:cs typeface="+mn-lt"/>
              </a:rPr>
              <a:t>JetEngine</a:t>
            </a:r>
            <a:r>
              <a:rPr lang="en-US" sz="2000" b="1">
                <a:solidFill>
                  <a:srgbClr val="FFFFFF"/>
                </a:solidFill>
                <a:ea typeface="+mn-lt"/>
                <a:cs typeface="+mn-lt"/>
              </a:rPr>
              <a:t> plugin for WordPress contains a SQL Injection vulnerability in the </a:t>
            </a:r>
            <a:r>
              <a:rPr lang="en-US" sz="2000" b="1" err="1">
                <a:solidFill>
                  <a:srgbClr val="FFFFFF"/>
                </a:solidFill>
                <a:ea typeface="+mn-lt"/>
                <a:cs typeface="+mn-lt"/>
              </a:rPr>
              <a:t>listing_load_more</a:t>
            </a:r>
            <a:r>
              <a:rPr lang="en-US" sz="2000" b="1">
                <a:solidFill>
                  <a:srgbClr val="FFFFFF"/>
                </a:solidFill>
                <a:ea typeface="+mn-lt"/>
                <a:cs typeface="+mn-lt"/>
              </a:rPr>
              <a:t> AJAX action affecting all versions up to and including 3.8.6.1. This vulnerability arises from the </a:t>
            </a:r>
            <a:r>
              <a:rPr lang="en-US" sz="2000" b="1" err="1">
                <a:solidFill>
                  <a:srgbClr val="FFFFFF"/>
                </a:solidFill>
                <a:ea typeface="+mn-lt"/>
                <a:cs typeface="+mn-lt"/>
              </a:rPr>
              <a:t>filtered_query</a:t>
            </a:r>
            <a:r>
              <a:rPr lang="en-US" sz="2000" b="1">
                <a:solidFill>
                  <a:srgbClr val="FFFFFF"/>
                </a:solidFill>
                <a:ea typeface="+mn-lt"/>
                <a:cs typeface="+mn-lt"/>
              </a:rPr>
              <a:t> parameter being excluded from HMAC signature validation, allowing attacker-controlled input to bypass security checks. This enables unauthenticated attackers to append malicious SQL queries to existing queries, potentially extracting sensitive information from the database.</a:t>
            </a:r>
            <a:endParaRPr lang="en-US" sz="2000" b="1">
              <a:ea typeface="Calibri"/>
              <a:cs typeface="Calibri"/>
            </a:endParaRPr>
          </a:p>
          <a:p>
            <a:pPr algn="l" rtl="0"/>
            <a:r>
              <a:rPr lang="en-US" sz="2000"/>
              <a:t>​</a:t>
            </a:r>
            <a:endParaRPr lang="en-US" sz="2000" b="1">
              <a:ea typeface="Calibri"/>
              <a:cs typeface="Calibri"/>
            </a:endParaRPr>
          </a:p>
          <a:p>
            <a:pPr algn="l" rtl="0"/>
            <a:r>
              <a:rPr lang="en-US" sz="2000" b="1"/>
              <a:t>Affected Products ​</a:t>
            </a:r>
            <a:endParaRPr lang="en-US" sz="2000" b="1">
              <a:ea typeface="Calibri"/>
              <a:cs typeface="Calibri"/>
            </a:endParaRPr>
          </a:p>
          <a:p>
            <a:r>
              <a:rPr lang="en-US" sz="2000" err="1"/>
              <a:t>JetEngine</a:t>
            </a:r>
            <a:r>
              <a:rPr lang="en-US" sz="2000"/>
              <a:t> plugin for WordPress versions up to and including 3.8.6.1</a:t>
            </a:r>
            <a:endParaRPr lang="en-US" sz="2000">
              <a:ea typeface="Calibri"/>
              <a:cs typeface="Calibri"/>
            </a:endParaRPr>
          </a:p>
          <a:p>
            <a:r>
              <a:rPr lang="en-US" sz="2000"/>
              <a:t>WordPress sites </a:t>
            </a:r>
            <a:r>
              <a:rPr lang="en-US" sz="2000" err="1"/>
              <a:t>utilising</a:t>
            </a:r>
            <a:r>
              <a:rPr lang="en-US" sz="2000"/>
              <a:t> </a:t>
            </a:r>
            <a:r>
              <a:rPr lang="en-US" sz="2000" err="1"/>
              <a:t>JetEngine</a:t>
            </a:r>
            <a:r>
              <a:rPr lang="en-US" sz="2000"/>
              <a:t> Listing Grid with Load More enabled</a:t>
            </a:r>
            <a:endParaRPr lang="en-US" sz="2000">
              <a:ea typeface="Calibri"/>
              <a:cs typeface="Calibri"/>
            </a:endParaRPr>
          </a:p>
          <a:p>
            <a:r>
              <a:rPr lang="en-US" sz="2000"/>
              <a:t>Sites using </a:t>
            </a:r>
            <a:r>
              <a:rPr lang="en-US" sz="2000" err="1"/>
              <a:t>JetEngine</a:t>
            </a:r>
            <a:r>
              <a:rPr lang="en-US" sz="2000"/>
              <a:t> SQL Query Builder queries</a:t>
            </a:r>
            <a:endParaRPr lang="en-US" sz="2000">
              <a:ea typeface="Calibri"/>
              <a:cs typeface="Calibri"/>
            </a:endParaRPr>
          </a:p>
          <a:p>
            <a:pPr algn="l" rtl="0"/>
            <a:r>
              <a:rPr lang="en-US" sz="2000"/>
              <a:t>​</a:t>
            </a:r>
            <a:endParaRPr lang="en-US" sz="2000" b="1">
              <a:ea typeface="Calibri"/>
              <a:cs typeface="Calibri"/>
            </a:endParaRPr>
          </a:p>
          <a:p>
            <a:pPr algn="l" rtl="0"/>
            <a:r>
              <a:rPr lang="en-US" sz="2000" b="1"/>
              <a:t>Discovery Timeline ​</a:t>
            </a:r>
            <a:endParaRPr lang="en-US" sz="2000" b="1">
              <a:ea typeface="Calibri"/>
              <a:cs typeface="Calibri"/>
            </a:endParaRPr>
          </a:p>
          <a:p>
            <a:r>
              <a:rPr lang="en-US" sz="2000"/>
              <a:t>2026-03-24 - CVE-2026-4662 published to NVD ​</a:t>
            </a:r>
            <a:endParaRPr lang="en-US" sz="2000">
              <a:ea typeface="Calibri"/>
              <a:cs typeface="Calibri"/>
            </a:endParaRPr>
          </a:p>
          <a:p>
            <a:pPr algn="l" rtl="0"/>
            <a:endParaRPr lang="en-US" sz="2000">
              <a:ea typeface="Calibri"/>
              <a:cs typeface="Calibri"/>
            </a:endParaRPr>
          </a:p>
          <a:p>
            <a:r>
              <a:rPr lang="en-US" sz="2000" b="1">
                <a:ea typeface="Calibri"/>
                <a:cs typeface="Calibri"/>
              </a:rPr>
              <a:t>Relevance in South Africa</a:t>
            </a:r>
          </a:p>
          <a:p>
            <a:r>
              <a:rPr lang="en-US" sz="2000"/>
              <a:t>​Cause huge disruption on online applications. Tertiary Institutions in South Africa </a:t>
            </a:r>
            <a:endParaRPr lang="en-US" sz="2000">
              <a:ea typeface="Calibri"/>
              <a:cs typeface="Calibri"/>
            </a:endParaRPr>
          </a:p>
          <a:p>
            <a:endParaRPr lang="en-US" sz="2000">
              <a:ea typeface="Calibri"/>
              <a:cs typeface="Calibri"/>
            </a:endParaRPr>
          </a:p>
          <a:p>
            <a:pPr algn="l" rtl="0"/>
            <a:r>
              <a:rPr lang="en-US" sz="2000" b="1"/>
              <a:t>Immediate Actions ​</a:t>
            </a:r>
            <a:endParaRPr lang="en-US" sz="2000" b="1">
              <a:ea typeface="Calibri"/>
              <a:cs typeface="Calibri"/>
            </a:endParaRPr>
          </a:p>
          <a:p>
            <a:r>
              <a:rPr lang="en-US" sz="2000"/>
              <a:t>Update </a:t>
            </a:r>
            <a:r>
              <a:rPr lang="en-US" sz="2000" err="1"/>
              <a:t>JetEngine</a:t>
            </a:r>
            <a:r>
              <a:rPr lang="en-US" sz="2000"/>
              <a:t> plugin to the latest patched version immediately</a:t>
            </a:r>
            <a:endParaRPr lang="en-US" sz="2000">
              <a:ea typeface="Calibri"/>
              <a:cs typeface="Calibri"/>
            </a:endParaRPr>
          </a:p>
          <a:p>
            <a:pPr algn="l" rtl="0"/>
            <a:r>
              <a:rPr lang="en-US" sz="2000"/>
              <a:t>​</a:t>
            </a:r>
            <a:endParaRPr lang="en-US" sz="2000">
              <a:ea typeface="Calibri"/>
              <a:cs typeface="Calibri"/>
            </a:endParaRPr>
          </a:p>
          <a:p>
            <a:pPr algn="l" rtl="0"/>
            <a:r>
              <a:rPr lang="en-US" sz="2000" b="1"/>
              <a:t>Workarounds ​</a:t>
            </a:r>
            <a:endParaRPr lang="en-US" sz="2000" b="1">
              <a:ea typeface="Calibri"/>
              <a:cs typeface="Calibri"/>
            </a:endParaRPr>
          </a:p>
          <a:p>
            <a:r>
              <a:rPr lang="en-US" sz="2000"/>
              <a:t>Implement WAF rules to block SQL injection attempts targeting WordPress AJAX endpoints</a:t>
            </a:r>
            <a:endParaRPr lang="en-US" sz="2000">
              <a:ea typeface="Calibri"/>
              <a:cs typeface="Calibri"/>
            </a:endParaRPr>
          </a:p>
          <a:p>
            <a:r>
              <a:rPr lang="en-US" sz="2000">
                <a:ea typeface="Calibri"/>
                <a:cs typeface="Calibri"/>
              </a:rPr>
              <a:t>Consider temporarily disabling the </a:t>
            </a:r>
            <a:r>
              <a:rPr lang="en-US" sz="2000" err="1">
                <a:ea typeface="Calibri"/>
                <a:cs typeface="Calibri"/>
              </a:rPr>
              <a:t>JetEngine</a:t>
            </a:r>
            <a:r>
              <a:rPr lang="en-US" sz="2000">
                <a:ea typeface="Calibri"/>
                <a:cs typeface="Calibri"/>
              </a:rPr>
              <a:t> plugin until patching is complete</a:t>
            </a:r>
            <a:endParaRPr lang="en-US" sz="2000"/>
          </a:p>
          <a:p>
            <a:endParaRPr lang="en-US">
              <a:ea typeface="Calibri"/>
              <a:cs typeface="Calibri"/>
            </a:endParaRPr>
          </a:p>
        </p:txBody>
      </p:sp>
      <p:pic>
        <p:nvPicPr>
          <p:cNvPr id="2" name="Picture 1" descr="A screenshot of a computer&#10;&#10;AI-generated content may be incorrect.">
            <a:extLst>
              <a:ext uri="{FF2B5EF4-FFF2-40B4-BE49-F238E27FC236}">
                <a16:creationId xmlns:a16="http://schemas.microsoft.com/office/drawing/2014/main" id="{9F4AE489-6FF3-17AA-5B7C-4DEB1ADEEFCB}"/>
              </a:ext>
            </a:extLst>
          </p:cNvPr>
          <p:cNvPicPr>
            <a:picLocks noChangeAspect="1"/>
          </p:cNvPicPr>
          <p:nvPr/>
        </p:nvPicPr>
        <p:blipFill>
          <a:blip r:embed="rId4"/>
          <a:srcRect r="-11" b="30322"/>
          <a:stretch>
            <a:fillRect/>
          </a:stretch>
        </p:blipFill>
        <p:spPr>
          <a:xfrm>
            <a:off x="13276271" y="4259656"/>
            <a:ext cx="4680984" cy="4655156"/>
          </a:xfrm>
          <a:prstGeom prst="rect">
            <a:avLst/>
          </a:prstGeom>
        </p:spPr>
      </p:pic>
      <p:pic>
        <p:nvPicPr>
          <p:cNvPr id="5" name="Picture 4" descr="Open Worldwide Application Security Project (@OWASPFoundation) • Facebook">
            <a:extLst>
              <a:ext uri="{FF2B5EF4-FFF2-40B4-BE49-F238E27FC236}">
                <a16:creationId xmlns:a16="http://schemas.microsoft.com/office/drawing/2014/main" id="{F6852CF9-D713-0497-443F-750921A6031D}"/>
              </a:ext>
            </a:extLst>
          </p:cNvPr>
          <p:cNvPicPr>
            <a:picLocks noChangeAspect="1"/>
          </p:cNvPicPr>
          <p:nvPr/>
        </p:nvPicPr>
        <p:blipFill>
          <a:blip r:embed="rId5"/>
          <a:stretch>
            <a:fillRect/>
          </a:stretch>
        </p:blipFill>
        <p:spPr>
          <a:xfrm>
            <a:off x="13278060" y="1290492"/>
            <a:ext cx="4703345" cy="2571249"/>
          </a:xfrm>
          <a:prstGeom prst="rect">
            <a:avLst/>
          </a:prstGeom>
        </p:spPr>
      </p:pic>
    </p:spTree>
    <p:extLst>
      <p:ext uri="{BB962C8B-B14F-4D97-AF65-F5344CB8AC3E}">
        <p14:creationId xmlns:p14="http://schemas.microsoft.com/office/powerpoint/2010/main" val="133542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sp>
        <p:nvSpPr>
          <p:cNvPr id="6" name="TextBox 6"/>
          <p:cNvSpPr txBox="1"/>
          <p:nvPr/>
        </p:nvSpPr>
        <p:spPr>
          <a:xfrm>
            <a:off x="1631308" y="6955182"/>
            <a:ext cx="7277950" cy="2303118"/>
          </a:xfrm>
          <a:prstGeom prst="rect">
            <a:avLst/>
          </a:prstGeom>
        </p:spPr>
        <p:txBody>
          <a:bodyPr lIns="362344" tIns="362344" rIns="362344" bIns="362344" rtlCol="0" anchor="ctr"/>
          <a:lstStyle/>
          <a:p>
            <a:pPr algn="ctr">
              <a:lnSpc>
                <a:spcPts val="2659"/>
              </a:lnSpc>
            </a:pPr>
            <a:endParaRPr/>
          </a:p>
        </p:txBody>
      </p:sp>
      <p:sp>
        <p:nvSpPr>
          <p:cNvPr id="15" name="Freeform 15"/>
          <p:cNvSpPr/>
          <p:nvPr/>
        </p:nvSpPr>
        <p:spPr>
          <a:xfrm rot="-5400362">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6" name="TextBox 16"/>
          <p:cNvSpPr txBox="1"/>
          <p:nvPr/>
        </p:nvSpPr>
        <p:spPr>
          <a:xfrm>
            <a:off x="1618609" y="129159"/>
            <a:ext cx="15876294" cy="1799082"/>
          </a:xfrm>
          <a:prstGeom prst="rect">
            <a:avLst/>
          </a:prstGeom>
        </p:spPr>
        <p:txBody>
          <a:bodyPr wrap="square" lIns="0" tIns="0" rIns="0" bIns="0" rtlCol="0" anchor="t">
            <a:spAutoFit/>
          </a:bodyPr>
          <a:lstStyle/>
          <a:p>
            <a:pPr algn="ctr">
              <a:lnSpc>
                <a:spcPts val="6999"/>
              </a:lnSpc>
            </a:pPr>
            <a:r>
              <a:rPr lang="en-US" sz="6999" b="1">
                <a:solidFill>
                  <a:srgbClr val="FFFFFF"/>
                </a:solidFill>
                <a:latin typeface="Montserrat Bold"/>
                <a:ea typeface="Montserrat Bold"/>
                <a:cs typeface="Montserrat Bold"/>
                <a:sym typeface="Montserrat Bold"/>
              </a:rPr>
              <a:t>Windows Remote Desktop </a:t>
            </a:r>
            <a:r>
              <a:rPr lang="en-ZA" sz="7200" b="1">
                <a:solidFill>
                  <a:srgbClr val="FFFFFF"/>
                </a:solidFill>
                <a:latin typeface="Montserrat Bold"/>
              </a:rPr>
              <a:t>CVE-2026-21533</a:t>
            </a:r>
            <a:endParaRPr lang="en-US" sz="6999" b="1">
              <a:solidFill>
                <a:srgbClr val="FFFFFF"/>
              </a:solidFill>
              <a:latin typeface="Montserrat Bold"/>
              <a:ea typeface="Montserrat Bold"/>
              <a:cs typeface="Montserrat Bold"/>
              <a:sym typeface="Montserrat Bold"/>
            </a:endParaRPr>
          </a:p>
        </p:txBody>
      </p:sp>
      <p:sp>
        <p:nvSpPr>
          <p:cNvPr id="20" name="TextBox 20"/>
          <p:cNvSpPr txBox="1"/>
          <p:nvPr/>
        </p:nvSpPr>
        <p:spPr>
          <a:xfrm>
            <a:off x="362568" y="2381758"/>
            <a:ext cx="7273608" cy="6924973"/>
          </a:xfrm>
          <a:prstGeom prst="rect">
            <a:avLst/>
          </a:prstGeom>
        </p:spPr>
        <p:txBody>
          <a:bodyPr wrap="square" lIns="0" tIns="0" rIns="0" bIns="0" rtlCol="0" anchor="t">
            <a:spAutoFit/>
          </a:bodyPr>
          <a:lstStyle/>
          <a:p>
            <a:r>
              <a:rPr lang="en-ZA">
                <a:solidFill>
                  <a:schemeClr val="bg1"/>
                </a:solidFill>
                <a:latin typeface="Calibri"/>
                <a:ea typeface="Calibri"/>
                <a:cs typeface="Calibri"/>
              </a:rPr>
              <a:t>The vulnerability exploits the </a:t>
            </a:r>
            <a:r>
              <a:rPr lang="en-ZA" b="1">
                <a:solidFill>
                  <a:schemeClr val="bg1"/>
                </a:solidFill>
                <a:latin typeface="Calibri"/>
                <a:ea typeface="Calibri"/>
                <a:cs typeface="Calibri"/>
              </a:rPr>
              <a:t>improper privilege management</a:t>
            </a:r>
            <a:r>
              <a:rPr lang="en-ZA">
                <a:solidFill>
                  <a:schemeClr val="bg1"/>
                </a:solidFill>
                <a:latin typeface="Calibri"/>
                <a:ea typeface="Calibri"/>
                <a:cs typeface="Calibri"/>
              </a:rPr>
              <a:t> within the Remote Desktop Services, rated as a High Vulnerability with a CVSS score of 7.8.</a:t>
            </a:r>
            <a:endParaRPr lang="en-US">
              <a:solidFill>
                <a:schemeClr val="bg1"/>
              </a:solidFill>
              <a:latin typeface="Calibri"/>
              <a:ea typeface="Calibri"/>
              <a:cs typeface="Calibri"/>
            </a:endParaRPr>
          </a:p>
          <a:p>
            <a:endParaRPr lang="en-ZA">
              <a:solidFill>
                <a:schemeClr val="bg1"/>
              </a:solidFill>
              <a:latin typeface="Calibri"/>
              <a:ea typeface="+mn-lt"/>
              <a:cs typeface="Calibri"/>
            </a:endParaRPr>
          </a:p>
          <a:p>
            <a:r>
              <a:rPr lang="en-ZA">
                <a:solidFill>
                  <a:schemeClr val="bg1"/>
                </a:solidFill>
                <a:latin typeface="Calibri"/>
                <a:ea typeface="+mn-lt"/>
                <a:cs typeface="Calibri"/>
              </a:rPr>
              <a:t>The Mechanism:</a:t>
            </a:r>
            <a:r>
              <a:rPr lang="en-ZA">
                <a:solidFill>
                  <a:schemeClr val="bg1"/>
                </a:solidFill>
                <a:latin typeface="Calibri"/>
                <a:ea typeface="Calibri"/>
                <a:cs typeface="Calibri"/>
              </a:rPr>
              <a:t> The flaw allows a locally authenticated attacker to manipulate a specific service/configuration, through a Remote Desktop session.</a:t>
            </a:r>
          </a:p>
          <a:p>
            <a:endParaRPr lang="en-ZA">
              <a:solidFill>
                <a:schemeClr val="bg1"/>
              </a:solidFill>
              <a:latin typeface="Calibri"/>
              <a:ea typeface="Calibri"/>
              <a:cs typeface="Calibri"/>
            </a:endParaRPr>
          </a:p>
          <a:p>
            <a:r>
              <a:rPr lang="en-ZA">
                <a:solidFill>
                  <a:schemeClr val="bg1"/>
                </a:solidFill>
                <a:latin typeface="Calibri"/>
                <a:ea typeface="Calibri"/>
                <a:cs typeface="Calibri"/>
              </a:rPr>
              <a:t>The Exploit: An attacker can replace a legitimate service with a malicious service/ configuration, such as evil twin, or establish a dormant connection on the host thereafter, the system would not properly validate, the permissions or the source of this modification and executes with the updated malicious configuration.</a:t>
            </a:r>
          </a:p>
          <a:p>
            <a:endParaRPr lang="en-ZA">
              <a:solidFill>
                <a:schemeClr val="bg1"/>
              </a:solidFill>
              <a:latin typeface="Calibri"/>
              <a:ea typeface="Calibri"/>
              <a:cs typeface="Calibri"/>
            </a:endParaRPr>
          </a:p>
          <a:p>
            <a:r>
              <a:rPr lang="en-ZA">
                <a:solidFill>
                  <a:schemeClr val="bg1"/>
                </a:solidFill>
                <a:latin typeface="Calibri"/>
                <a:ea typeface="Calibri"/>
                <a:cs typeface="Calibri"/>
              </a:rPr>
              <a:t>The Result: This exploit allows the attacker to escalate their privileges to </a:t>
            </a:r>
            <a:r>
              <a:rPr lang="en-ZA" b="1">
                <a:solidFill>
                  <a:schemeClr val="bg1"/>
                </a:solidFill>
                <a:latin typeface="Calibri"/>
                <a:ea typeface="Calibri"/>
                <a:cs typeface="Calibri"/>
              </a:rPr>
              <a:t>SYSTEM/Root </a:t>
            </a:r>
            <a:r>
              <a:rPr lang="en-ZA">
                <a:solidFill>
                  <a:schemeClr val="bg1"/>
                </a:solidFill>
                <a:latin typeface="Calibri"/>
                <a:ea typeface="Calibri"/>
                <a:cs typeface="Calibri"/>
              </a:rPr>
              <a:t>level, the highest level of administrative authority in Windows. Once privileges are escalated an attacker can perform any action, such as adding new users to an "Administrators" group, then installing persistent malware, or accessing and extracting sensitive data across the entire network.</a:t>
            </a:r>
            <a:br>
              <a:rPr lang="en-ZA">
                <a:latin typeface="Calibri"/>
                <a:ea typeface="Calibri"/>
                <a:cs typeface="Calibri"/>
              </a:rPr>
            </a:br>
            <a:endParaRPr lang="en-ZA">
              <a:solidFill>
                <a:schemeClr val="bg1"/>
              </a:solidFill>
              <a:latin typeface="Calibri"/>
              <a:ea typeface="Calibri"/>
              <a:cs typeface="Calibri"/>
            </a:endParaRPr>
          </a:p>
          <a:p>
            <a:r>
              <a:rPr lang="en-ZA">
                <a:solidFill>
                  <a:schemeClr val="bg1"/>
                </a:solidFill>
                <a:latin typeface="Calibri"/>
                <a:ea typeface="Calibri"/>
                <a:cs typeface="Calibri"/>
              </a:rPr>
              <a:t>Financial sectors in the South African use RDP with certain services, the following article is from ABSA bank.</a:t>
            </a:r>
          </a:p>
          <a:p>
            <a:endParaRPr lang="en-ZA">
              <a:solidFill>
                <a:schemeClr val="bg1"/>
              </a:solidFill>
              <a:latin typeface="Calibri"/>
              <a:ea typeface="Calibri"/>
              <a:cs typeface="Calibri"/>
            </a:endParaRPr>
          </a:p>
          <a:p>
            <a:r>
              <a:rPr lang="en-ZA">
                <a:solidFill>
                  <a:schemeClr val="bg1"/>
                </a:solidFill>
                <a:ea typeface="+mn-lt"/>
                <a:cs typeface="+mn-lt"/>
                <a:hlinkClick r:id="rId4">
                  <a:extLst>
                    <a:ext uri="{A12FA001-AC4F-418D-AE19-62706E023703}">
                      <ahyp:hlinkClr xmlns:ahyp="http://schemas.microsoft.com/office/drawing/2018/hyperlinkcolor" val="tx"/>
                    </a:ext>
                  </a:extLst>
                </a:hlinkClick>
              </a:rPr>
              <a:t>https://cib.absa.africa/home/insights-and-events/remote-account-takeover/</a:t>
            </a:r>
            <a:r>
              <a:rPr lang="en-ZA">
                <a:solidFill>
                  <a:schemeClr val="bg1"/>
                </a:solidFill>
                <a:ea typeface="+mn-lt"/>
                <a:cs typeface="+mn-lt"/>
              </a:rPr>
              <a:t>. </a:t>
            </a:r>
            <a:endParaRPr lang="en-ZA">
              <a:solidFill>
                <a:schemeClr val="bg1"/>
              </a:solidFill>
              <a:latin typeface="Calibri"/>
              <a:ea typeface="Calibri"/>
              <a:cs typeface="Calibri"/>
            </a:endParaRPr>
          </a:p>
          <a:p>
            <a:pPr marL="285750" indent="-285750">
              <a:buFont typeface="Arial" panose="020B0604020202020204" pitchFamily="34" charset="0"/>
              <a:buChar char="•"/>
            </a:pPr>
            <a:endParaRPr lang="en-ZA">
              <a:solidFill>
                <a:srgbClr val="FFFFFF"/>
              </a:solidFill>
              <a:latin typeface="Calibri"/>
              <a:ea typeface="Calibri"/>
              <a:cs typeface="Calibri"/>
            </a:endParaRPr>
          </a:p>
        </p:txBody>
      </p:sp>
      <p:pic>
        <p:nvPicPr>
          <p:cNvPr id="5" name="Picture 4">
            <a:extLst>
              <a:ext uri="{FF2B5EF4-FFF2-40B4-BE49-F238E27FC236}">
                <a16:creationId xmlns:a16="http://schemas.microsoft.com/office/drawing/2014/main" id="{9BDFC3E2-71E5-3E4E-E841-1C5994F002D8}"/>
              </a:ext>
            </a:extLst>
          </p:cNvPr>
          <p:cNvPicPr>
            <a:picLocks noChangeAspect="1"/>
          </p:cNvPicPr>
          <p:nvPr/>
        </p:nvPicPr>
        <p:blipFill>
          <a:blip r:embed="rId5"/>
          <a:stretch>
            <a:fillRect/>
          </a:stretch>
        </p:blipFill>
        <p:spPr>
          <a:xfrm>
            <a:off x="7618361" y="3197068"/>
            <a:ext cx="5594477" cy="5286031"/>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61AF24DE-587E-DD7F-6095-5333C21C27D3}"/>
              </a:ext>
            </a:extLst>
          </p:cNvPr>
          <p:cNvPicPr>
            <a:picLocks noChangeAspect="1"/>
          </p:cNvPicPr>
          <p:nvPr/>
        </p:nvPicPr>
        <p:blipFill>
          <a:blip r:embed="rId6"/>
          <a:srcRect r="-1472" b="28267"/>
          <a:stretch>
            <a:fillRect/>
          </a:stretch>
        </p:blipFill>
        <p:spPr>
          <a:xfrm>
            <a:off x="13536996" y="3517644"/>
            <a:ext cx="4534960" cy="4317463"/>
          </a:xfrm>
          <a:prstGeom prst="rect">
            <a:avLst/>
          </a:prstGeom>
        </p:spPr>
      </p:pic>
    </p:spTree>
    <p:extLst>
      <p:ext uri="{BB962C8B-B14F-4D97-AF65-F5344CB8AC3E}">
        <p14:creationId xmlns:p14="http://schemas.microsoft.com/office/powerpoint/2010/main" val="126836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198449B3-BCA7-B50C-CF47-F51FCA2B9D1D}"/>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60D98880-A50D-E6FE-537B-4AEF6986D1C8}"/>
              </a:ext>
            </a:extLst>
          </p:cNvPr>
          <p:cNvSpPr txBox="1"/>
          <p:nvPr/>
        </p:nvSpPr>
        <p:spPr>
          <a:xfrm>
            <a:off x="1631308" y="6955182"/>
            <a:ext cx="7277950" cy="2303118"/>
          </a:xfrm>
          <a:prstGeom prst="rect">
            <a:avLst/>
          </a:prstGeom>
        </p:spPr>
        <p:txBody>
          <a:bodyPr lIns="362344" tIns="362344" rIns="362344" bIns="362344" rtlCol="0" anchor="ctr"/>
          <a:lstStyle/>
          <a:p>
            <a:pPr algn="ctr">
              <a:lnSpc>
                <a:spcPts val="2659"/>
              </a:lnSpc>
            </a:pPr>
            <a:endParaRPr/>
          </a:p>
        </p:txBody>
      </p:sp>
      <p:sp>
        <p:nvSpPr>
          <p:cNvPr id="15" name="Freeform 15">
            <a:extLst>
              <a:ext uri="{FF2B5EF4-FFF2-40B4-BE49-F238E27FC236}">
                <a16:creationId xmlns:a16="http://schemas.microsoft.com/office/drawing/2014/main" id="{0513FE63-ECCB-97A7-3521-F3B6C27DC3E7}"/>
              </a:ext>
            </a:extLst>
          </p:cNvPr>
          <p:cNvSpPr/>
          <p:nvPr/>
        </p:nvSpPr>
        <p:spPr>
          <a:xfrm rot="5400000">
            <a:off x="-126811" y="4893839"/>
            <a:ext cx="5405928" cy="5363065"/>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6" name="TextBox 16">
            <a:extLst>
              <a:ext uri="{FF2B5EF4-FFF2-40B4-BE49-F238E27FC236}">
                <a16:creationId xmlns:a16="http://schemas.microsoft.com/office/drawing/2014/main" id="{9CD77C01-DCE5-1405-2AA5-91304F99736F}"/>
              </a:ext>
            </a:extLst>
          </p:cNvPr>
          <p:cNvSpPr txBox="1"/>
          <p:nvPr/>
        </p:nvSpPr>
        <p:spPr>
          <a:xfrm>
            <a:off x="647842" y="129159"/>
            <a:ext cx="16847061" cy="1723036"/>
          </a:xfrm>
          <a:prstGeom prst="rect">
            <a:avLst/>
          </a:prstGeom>
        </p:spPr>
        <p:txBody>
          <a:bodyPr wrap="square" lIns="0" tIns="0" rIns="0" bIns="0" rtlCol="0" anchor="t">
            <a:spAutoFit/>
          </a:bodyPr>
          <a:lstStyle/>
          <a:p>
            <a:pPr algn="ctr">
              <a:lnSpc>
                <a:spcPts val="6998"/>
              </a:lnSpc>
            </a:pPr>
            <a:r>
              <a:rPr lang="en-ZA" sz="4800">
                <a:solidFill>
                  <a:srgbClr val="FFFFFF"/>
                </a:solidFill>
                <a:latin typeface="Montserrat Bold"/>
                <a:ea typeface="+mn-lt"/>
                <a:cs typeface="+mn-lt"/>
              </a:rPr>
              <a:t>CVE-2026-3497 affects OpenSSH GSSAPI patches in Linux distributions like Ubuntu</a:t>
            </a:r>
            <a:endParaRPr lang="en-US" sz="4800">
              <a:latin typeface="Montserrat Bold"/>
            </a:endParaRPr>
          </a:p>
        </p:txBody>
      </p:sp>
      <p:sp>
        <p:nvSpPr>
          <p:cNvPr id="2" name="TextBox 1">
            <a:extLst>
              <a:ext uri="{FF2B5EF4-FFF2-40B4-BE49-F238E27FC236}">
                <a16:creationId xmlns:a16="http://schemas.microsoft.com/office/drawing/2014/main" id="{14EF1A42-806E-323B-940B-8EF7FBCAA99D}"/>
              </a:ext>
            </a:extLst>
          </p:cNvPr>
          <p:cNvSpPr txBox="1"/>
          <p:nvPr/>
        </p:nvSpPr>
        <p:spPr>
          <a:xfrm>
            <a:off x="271463" y="2571751"/>
            <a:ext cx="812958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solidFill>
                  <a:schemeClr val="bg1"/>
                </a:solidFill>
              </a:rPr>
              <a:t>The vulnerability is caused by improper error handling and </a:t>
            </a:r>
            <a:r>
              <a:rPr lang="en-US" sz="2400" err="1">
                <a:solidFill>
                  <a:schemeClr val="bg1"/>
                </a:solidFill>
              </a:rPr>
              <a:t>uninitialised</a:t>
            </a:r>
            <a:r>
              <a:rPr lang="en-US" sz="2400">
                <a:solidFill>
                  <a:schemeClr val="bg1"/>
                </a:solidFill>
              </a:rPr>
              <a:t> variables.</a:t>
            </a:r>
            <a:endParaRPr lang="en-US" sz="2400">
              <a:solidFill>
                <a:schemeClr val="bg1"/>
              </a:solidFill>
              <a:ea typeface="Calibri"/>
              <a:cs typeface="Calibri"/>
            </a:endParaRPr>
          </a:p>
          <a:p>
            <a:pPr marL="342900" indent="-342900">
              <a:buFont typeface="Arial"/>
              <a:buChar char="•"/>
            </a:pPr>
            <a:r>
              <a:rPr lang="en-US" sz="2400">
                <a:solidFill>
                  <a:schemeClr val="bg1"/>
                </a:solidFill>
              </a:rPr>
              <a:t>NVD rates it LOW (2.7), while Ubuntu rates it MEDIUM (6.9) </a:t>
            </a:r>
            <a:endParaRPr lang="en-US" sz="2400">
              <a:solidFill>
                <a:schemeClr val="bg1"/>
              </a:solidFill>
              <a:ea typeface="Calibri"/>
              <a:cs typeface="Calibri"/>
            </a:endParaRPr>
          </a:p>
          <a:p>
            <a:pPr marL="342900" indent="-342900">
              <a:buFont typeface="Arial"/>
              <a:buChar char="•"/>
            </a:pPr>
            <a:r>
              <a:rPr lang="en-US" sz="2400">
                <a:solidFill>
                  <a:schemeClr val="bg1"/>
                </a:solidFill>
              </a:rPr>
              <a:t>It allows network-based attacks but has a limited impact (mainly instability).</a:t>
            </a:r>
            <a:endParaRPr lang="en-US" sz="2400">
              <a:solidFill>
                <a:schemeClr val="bg1"/>
              </a:solidFill>
              <a:ea typeface="Calibri"/>
              <a:cs typeface="Calibri"/>
            </a:endParaRPr>
          </a:p>
          <a:p>
            <a:pPr marL="342900" indent="-342900">
              <a:buFont typeface="Arial"/>
              <a:buChar char="•"/>
            </a:pPr>
            <a:r>
              <a:rPr lang="en-US" sz="2400">
                <a:solidFill>
                  <a:schemeClr val="bg1"/>
                </a:solidFill>
              </a:rPr>
              <a:t>In South Africa, SMEs using Ubuntu are more exposed due to slower patching.</a:t>
            </a:r>
            <a:endParaRPr lang="en-US" sz="2400">
              <a:solidFill>
                <a:schemeClr val="bg1"/>
              </a:solidFill>
              <a:ea typeface="Calibri"/>
              <a:cs typeface="Calibri"/>
            </a:endParaRPr>
          </a:p>
          <a:p>
            <a:pPr marL="342900" indent="-342900">
              <a:buFont typeface="Arial"/>
              <a:buChar char="•"/>
            </a:pPr>
            <a:r>
              <a:rPr lang="en-US" sz="2400">
                <a:solidFill>
                  <a:schemeClr val="bg1"/>
                </a:solidFill>
              </a:rPr>
              <a:t>AI-based tools improve detection and prioritisation, but correctly classify this as non-critical.</a:t>
            </a:r>
            <a:endParaRPr lang="en-US" sz="2400">
              <a:solidFill>
                <a:schemeClr val="bg1"/>
              </a:solidFill>
              <a:ea typeface="Calibri"/>
              <a:cs typeface="Calibri"/>
            </a:endParaRPr>
          </a:p>
          <a:p>
            <a:pPr marL="342900" indent="-342900">
              <a:buFont typeface="Arial"/>
              <a:buChar char="•"/>
            </a:pPr>
            <a:r>
              <a:rPr lang="en-US" sz="2400">
                <a:solidFill>
                  <a:schemeClr val="bg1"/>
                </a:solidFill>
              </a:rPr>
              <a:t>The best mitigation is patching OpenSSH or disabling GSSAPI.</a:t>
            </a:r>
            <a:endParaRPr lang="en-US" sz="2400">
              <a:solidFill>
                <a:schemeClr val="bg1"/>
              </a:solidFill>
              <a:ea typeface="Calibri"/>
              <a:cs typeface="Calibri"/>
            </a:endParaRPr>
          </a:p>
          <a:p>
            <a:pPr marL="342900" indent="-342900" algn="ctr">
              <a:buFont typeface="Arial"/>
              <a:buChar char="•"/>
            </a:pPr>
            <a:endParaRPr lang="en-US" sz="2400">
              <a:solidFill>
                <a:schemeClr val="bg1"/>
              </a:solidFill>
              <a:ea typeface="Calibri"/>
              <a:cs typeface="Calibri"/>
            </a:endParaRPr>
          </a:p>
        </p:txBody>
      </p:sp>
      <p:sp>
        <p:nvSpPr>
          <p:cNvPr id="3" name="TextBox 2">
            <a:extLst>
              <a:ext uri="{FF2B5EF4-FFF2-40B4-BE49-F238E27FC236}">
                <a16:creationId xmlns:a16="http://schemas.microsoft.com/office/drawing/2014/main" id="{2160CC54-2E3E-1176-BDF4-072FD0131C3D}"/>
              </a:ext>
            </a:extLst>
          </p:cNvPr>
          <p:cNvSpPr txBox="1"/>
          <p:nvPr/>
        </p:nvSpPr>
        <p:spPr>
          <a:xfrm>
            <a:off x="514351" y="7015162"/>
            <a:ext cx="16402048" cy="22445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chemeClr val="bg1"/>
                </a:solidFill>
              </a:rPr>
              <a:t>CVSS score is calculated using exploitability and impact metrics.</a:t>
            </a:r>
            <a:endParaRPr lang="en-US" sz="2400">
              <a:solidFill>
                <a:schemeClr val="bg1"/>
              </a:solidFill>
              <a:ea typeface="Calibri"/>
              <a:cs typeface="Calibri"/>
            </a:endParaRPr>
          </a:p>
          <a:p>
            <a:pPr marL="285750" indent="-285750">
              <a:buFont typeface="Arial"/>
              <a:buChar char="•"/>
            </a:pPr>
            <a:r>
              <a:rPr lang="en-US" sz="2400">
                <a:solidFill>
                  <a:schemeClr val="bg1"/>
                </a:solidFill>
              </a:rPr>
              <a:t>CVE-2026-3497 scores low because, although it is easy to exploit remotely, it causes only limited impact (no data breach or full system compromise).</a:t>
            </a:r>
          </a:p>
          <a:p>
            <a:pPr marL="285750" indent="-285750">
              <a:buFont typeface="Arial"/>
              <a:buChar char="•"/>
            </a:pPr>
            <a:r>
              <a:rPr lang="en-US" sz="2400">
                <a:solidFill>
                  <a:schemeClr val="bg1"/>
                </a:solidFill>
              </a:rPr>
              <a:t>Differences between NVD and Ubuntu scores occur because vendors consider real-world usage and operational risk.</a:t>
            </a:r>
            <a:endParaRPr lang="en-US" sz="2400">
              <a:solidFill>
                <a:schemeClr val="bg1"/>
              </a:solidFill>
              <a:ea typeface="Calibri"/>
              <a:cs typeface="Calibri"/>
            </a:endParaRPr>
          </a:p>
          <a:p>
            <a:pPr marL="285750" indent="-285750">
              <a:buFont typeface="Arial"/>
              <a:buChar char="•"/>
            </a:pPr>
            <a:r>
              <a:rPr lang="en-US" sz="2400">
                <a:solidFill>
                  <a:schemeClr val="bg1"/>
                </a:solidFill>
              </a:rPr>
              <a:t>The severity seems higher in South African SMEs environments where SSH stability is critical.</a:t>
            </a:r>
            <a:endParaRPr lang="en-US" sz="2400">
              <a:solidFill>
                <a:schemeClr val="bg1"/>
              </a:solidFill>
              <a:ea typeface="Calibri"/>
              <a:cs typeface="Calibri"/>
            </a:endParaRPr>
          </a:p>
          <a:p>
            <a:pPr algn="ctr"/>
            <a:endParaRPr lang="en-US">
              <a:solidFill>
                <a:schemeClr val="bg1"/>
              </a:solidFill>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C19638DF-E3D4-55A8-C47E-CCE08B5F1EDB}"/>
              </a:ext>
            </a:extLst>
          </p:cNvPr>
          <p:cNvPicPr>
            <a:picLocks noChangeAspect="1"/>
          </p:cNvPicPr>
          <p:nvPr/>
        </p:nvPicPr>
        <p:blipFill>
          <a:blip r:embed="rId4"/>
          <a:stretch>
            <a:fillRect/>
          </a:stretch>
        </p:blipFill>
        <p:spPr>
          <a:xfrm>
            <a:off x="11683137" y="1844096"/>
            <a:ext cx="5534025" cy="5267325"/>
          </a:xfrm>
          <a:prstGeom prst="rect">
            <a:avLst/>
          </a:prstGeom>
          <a:ln>
            <a:noFill/>
          </a:ln>
          <a:effectLst>
            <a:outerShdw blurRad="292100" dist="139700" dir="2700000" algn="tl" rotWithShape="0">
              <a:srgbClr val="333333">
                <a:alpha val="65000"/>
              </a:srgbClr>
            </a:outerShdw>
          </a:effectLst>
        </p:spPr>
      </p:pic>
      <p:pic>
        <p:nvPicPr>
          <p:cNvPr id="7" name="Picture 6" descr="A close-up of a text&#10;&#10;AI-generated content may be incorrect.">
            <a:extLst>
              <a:ext uri="{FF2B5EF4-FFF2-40B4-BE49-F238E27FC236}">
                <a16:creationId xmlns:a16="http://schemas.microsoft.com/office/drawing/2014/main" id="{F632EC57-6D68-1C4C-13C6-04BCAFD51879}"/>
              </a:ext>
            </a:extLst>
          </p:cNvPr>
          <p:cNvPicPr>
            <a:picLocks noChangeAspect="1"/>
          </p:cNvPicPr>
          <p:nvPr/>
        </p:nvPicPr>
        <p:blipFill>
          <a:blip r:embed="rId5"/>
          <a:stretch>
            <a:fillRect/>
          </a:stretch>
        </p:blipFill>
        <p:spPr>
          <a:xfrm>
            <a:off x="11679055" y="8831826"/>
            <a:ext cx="5622470" cy="12436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6628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0698A42E-8078-0824-D1E7-690FE29DC66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C2188AC-78C7-9E90-7596-113E7B0BF916}"/>
              </a:ext>
            </a:extLst>
          </p:cNvPr>
          <p:cNvSpPr/>
          <p:nvPr/>
        </p:nvSpPr>
        <p:spPr>
          <a:xfrm>
            <a:off x="191811" y="1490716"/>
            <a:ext cx="10578452" cy="8409889"/>
          </a:xfrm>
          <a:prstGeom prst="roundRect">
            <a:avLst/>
          </a:prstGeom>
          <a:solidFill>
            <a:schemeClr val="tx1">
              <a:lumMod val="75000"/>
              <a:lumOff val="2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 name="TextBox 6">
            <a:extLst>
              <a:ext uri="{FF2B5EF4-FFF2-40B4-BE49-F238E27FC236}">
                <a16:creationId xmlns:a16="http://schemas.microsoft.com/office/drawing/2014/main" id="{D1AEEDEA-3420-DF7A-C405-B122E9D13411}"/>
              </a:ext>
            </a:extLst>
          </p:cNvPr>
          <p:cNvSpPr txBox="1"/>
          <p:nvPr/>
        </p:nvSpPr>
        <p:spPr>
          <a:xfrm>
            <a:off x="1631308" y="6955182"/>
            <a:ext cx="7277950" cy="2303118"/>
          </a:xfrm>
          <a:prstGeom prst="rect">
            <a:avLst/>
          </a:prstGeom>
        </p:spPr>
        <p:txBody>
          <a:bodyPr lIns="362344" tIns="362344" rIns="362344" bIns="362344" rtlCol="0" anchor="ctr"/>
          <a:lstStyle/>
          <a:p>
            <a:pPr algn="ctr">
              <a:lnSpc>
                <a:spcPts val="2659"/>
              </a:lnSpc>
            </a:pPr>
            <a:endParaRPr/>
          </a:p>
        </p:txBody>
      </p:sp>
      <p:sp>
        <p:nvSpPr>
          <p:cNvPr id="16" name="TextBox 16">
            <a:extLst>
              <a:ext uri="{FF2B5EF4-FFF2-40B4-BE49-F238E27FC236}">
                <a16:creationId xmlns:a16="http://schemas.microsoft.com/office/drawing/2014/main" id="{66D95111-E9C6-4A5D-8AE3-E4CA63254785}"/>
              </a:ext>
            </a:extLst>
          </p:cNvPr>
          <p:cNvSpPr txBox="1"/>
          <p:nvPr/>
        </p:nvSpPr>
        <p:spPr>
          <a:xfrm>
            <a:off x="710071" y="-2726"/>
            <a:ext cx="15876294" cy="2009396"/>
          </a:xfrm>
          <a:prstGeom prst="rect">
            <a:avLst/>
          </a:prstGeom>
        </p:spPr>
        <p:txBody>
          <a:bodyPr wrap="square" lIns="0" tIns="0" rIns="0" bIns="0" rtlCol="0" anchor="t">
            <a:spAutoFit/>
          </a:bodyPr>
          <a:lstStyle/>
          <a:p>
            <a:pPr algn="ctr"/>
            <a:endParaRPr lang="en-ZA" sz="7200" b="1">
              <a:solidFill>
                <a:srgbClr val="FFFFFF"/>
              </a:solidFill>
              <a:latin typeface="Montserrat Bold"/>
            </a:endParaRPr>
          </a:p>
          <a:p>
            <a:pPr algn="ctr">
              <a:lnSpc>
                <a:spcPts val="6998"/>
              </a:lnSpc>
            </a:pPr>
            <a:endParaRPr lang="en-ZA" sz="7200" b="1">
              <a:solidFill>
                <a:srgbClr val="FFFFFF"/>
              </a:solidFill>
              <a:latin typeface="Montserrat Bold"/>
              <a:ea typeface="Montserrat Bold"/>
              <a:cs typeface="Montserrat Bold"/>
            </a:endParaRPr>
          </a:p>
        </p:txBody>
      </p:sp>
      <p:sp>
        <p:nvSpPr>
          <p:cNvPr id="2" name="TextBox 1">
            <a:extLst>
              <a:ext uri="{FF2B5EF4-FFF2-40B4-BE49-F238E27FC236}">
                <a16:creationId xmlns:a16="http://schemas.microsoft.com/office/drawing/2014/main" id="{FE44CB5A-6A1F-925B-3A24-58D94802F3B9}"/>
              </a:ext>
            </a:extLst>
          </p:cNvPr>
          <p:cNvSpPr txBox="1"/>
          <p:nvPr/>
        </p:nvSpPr>
        <p:spPr>
          <a:xfrm>
            <a:off x="714497" y="257534"/>
            <a:ext cx="1845196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ZA" sz="6000" b="1">
                <a:solidFill>
                  <a:srgbClr val="FFFFFF"/>
                </a:solidFill>
                <a:latin typeface="Montserrat Bold"/>
                <a:cs typeface="Segoe UI"/>
              </a:rPr>
              <a:t>CVE-2025-48561 –</a:t>
            </a:r>
            <a:r>
              <a:rPr lang="en-ZA" sz="7200" b="1">
                <a:solidFill>
                  <a:srgbClr val="FFFFFF"/>
                </a:solidFill>
                <a:latin typeface="Montserrat Bold"/>
                <a:cs typeface="Segoe UI"/>
              </a:rPr>
              <a:t> </a:t>
            </a:r>
            <a:r>
              <a:rPr lang="en-ZA" sz="3200" b="1">
                <a:solidFill>
                  <a:srgbClr val="FFFFFF"/>
                </a:solidFill>
                <a:latin typeface="Montserrat Bold"/>
                <a:cs typeface="Segoe UI"/>
              </a:rPr>
              <a:t>Android Screen Data Theft Vulnerability</a:t>
            </a:r>
          </a:p>
          <a:p>
            <a:pPr algn="ctr"/>
            <a:endParaRPr lang="en-US"/>
          </a:p>
        </p:txBody>
      </p:sp>
      <p:sp>
        <p:nvSpPr>
          <p:cNvPr id="10" name="TextBox 9">
            <a:extLst>
              <a:ext uri="{FF2B5EF4-FFF2-40B4-BE49-F238E27FC236}">
                <a16:creationId xmlns:a16="http://schemas.microsoft.com/office/drawing/2014/main" id="{C6F9C7DE-1384-101A-D2C0-C82D940B5777}"/>
              </a:ext>
            </a:extLst>
          </p:cNvPr>
          <p:cNvSpPr txBox="1"/>
          <p:nvPr/>
        </p:nvSpPr>
        <p:spPr>
          <a:xfrm>
            <a:off x="710019" y="1489116"/>
            <a:ext cx="10323144" cy="91409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sz="2400">
                <a:latin typeface="Montserrat Bold"/>
              </a:rPr>
            </a:br>
            <a:r>
              <a:rPr lang="en-US" sz="2000">
                <a:solidFill>
                  <a:schemeClr val="bg1"/>
                </a:solidFill>
                <a:ea typeface="+mn-lt"/>
                <a:cs typeface="+mn-lt"/>
              </a:rPr>
              <a:t>Flaw in the Android OS that makes it possible for malicious apps to capture screen data </a:t>
            </a:r>
          </a:p>
          <a:p>
            <a:r>
              <a:rPr lang="en-US" sz="2000">
                <a:solidFill>
                  <a:schemeClr val="bg1"/>
                </a:solidFill>
                <a:ea typeface="+mn-lt"/>
                <a:cs typeface="+mn-lt"/>
              </a:rPr>
              <a:t>without requiring added permissions.</a:t>
            </a:r>
          </a:p>
          <a:p>
            <a:endParaRPr lang="en-US" sz="2000">
              <a:solidFill>
                <a:schemeClr val="bg1"/>
              </a:solidFill>
              <a:ea typeface="+mn-lt"/>
              <a:cs typeface="+mn-lt"/>
            </a:endParaRPr>
          </a:p>
          <a:p>
            <a:r>
              <a:rPr lang="en-US" sz="2400" b="1">
                <a:solidFill>
                  <a:schemeClr val="bg1"/>
                </a:solidFill>
                <a:ea typeface="+mn-lt"/>
                <a:cs typeface="+mn-lt"/>
              </a:rPr>
              <a:t>Affected Products: </a:t>
            </a:r>
          </a:p>
          <a:p>
            <a:r>
              <a:rPr lang="en-US" sz="2000">
                <a:solidFill>
                  <a:schemeClr val="bg1"/>
                </a:solidFill>
                <a:ea typeface="+mn-lt"/>
                <a:cs typeface="+mn-lt"/>
              </a:rPr>
              <a:t>Nearly all modern Android device with versions 13 – 16+</a:t>
            </a:r>
          </a:p>
          <a:p>
            <a:endParaRPr lang="en-US" sz="2000">
              <a:solidFill>
                <a:schemeClr val="bg1"/>
              </a:solidFill>
              <a:ea typeface="+mn-lt"/>
              <a:cs typeface="+mn-lt"/>
            </a:endParaRPr>
          </a:p>
          <a:p>
            <a:r>
              <a:rPr lang="en-US" sz="2400" b="1">
                <a:solidFill>
                  <a:schemeClr val="bg1"/>
                </a:solidFill>
                <a:ea typeface="+mn-lt"/>
                <a:cs typeface="+mn-lt"/>
              </a:rPr>
              <a:t>Impact:</a:t>
            </a:r>
          </a:p>
          <a:p>
            <a:r>
              <a:rPr lang="en-US" sz="2000">
                <a:solidFill>
                  <a:schemeClr val="bg1"/>
                </a:solidFill>
                <a:ea typeface="+mn-lt"/>
                <a:cs typeface="+mn-lt"/>
              </a:rPr>
              <a:t>Capturing of Sensitive data </a:t>
            </a:r>
          </a:p>
          <a:p>
            <a:pPr marL="342900" indent="-342900">
              <a:buFont typeface="Arial"/>
              <a:buChar char="•"/>
            </a:pPr>
            <a:r>
              <a:rPr lang="en-US" sz="2000">
                <a:solidFill>
                  <a:schemeClr val="bg1"/>
                </a:solidFill>
                <a:ea typeface="+mn-lt"/>
                <a:cs typeface="+mn-lt"/>
              </a:rPr>
              <a:t>Banking Details</a:t>
            </a:r>
          </a:p>
          <a:p>
            <a:pPr marL="342900" indent="-342900">
              <a:buFont typeface="Arial"/>
              <a:buChar char="•"/>
            </a:pPr>
            <a:r>
              <a:rPr lang="en-US" sz="2000">
                <a:solidFill>
                  <a:schemeClr val="bg1"/>
                </a:solidFill>
                <a:ea typeface="+mn-lt"/>
                <a:cs typeface="+mn-lt"/>
              </a:rPr>
              <a:t>Company/Business Info.</a:t>
            </a:r>
            <a:endParaRPr lang="en-US">
              <a:solidFill>
                <a:schemeClr val="bg1"/>
              </a:solidFill>
              <a:ea typeface="Calibri"/>
              <a:cs typeface="Calibri"/>
            </a:endParaRPr>
          </a:p>
          <a:p>
            <a:pPr marL="342900" indent="-342900">
              <a:buFont typeface="Arial"/>
              <a:buChar char="•"/>
            </a:pPr>
            <a:r>
              <a:rPr lang="en-US" sz="2000">
                <a:solidFill>
                  <a:schemeClr val="bg1"/>
                </a:solidFill>
                <a:ea typeface="+mn-lt"/>
                <a:cs typeface="+mn-lt"/>
              </a:rPr>
              <a:t>OTPs and MFAs codes.</a:t>
            </a:r>
          </a:p>
          <a:p>
            <a:endParaRPr lang="en-US" sz="2400" b="1">
              <a:solidFill>
                <a:schemeClr val="bg1"/>
              </a:solidFill>
              <a:ea typeface="+mn-lt"/>
              <a:cs typeface="+mn-lt"/>
            </a:endParaRPr>
          </a:p>
          <a:p>
            <a:r>
              <a:rPr lang="en-US" sz="2000" b="1">
                <a:solidFill>
                  <a:schemeClr val="bg1"/>
                </a:solidFill>
                <a:ea typeface="+mn-lt"/>
                <a:cs typeface="+mn-lt"/>
              </a:rPr>
              <a:t>78.42% of South African use Android Based device </a:t>
            </a:r>
            <a:r>
              <a:rPr lang="en-US" sz="2000" b="1" i="1">
                <a:solidFill>
                  <a:schemeClr val="bg1"/>
                </a:solidFill>
                <a:ea typeface="+mn-lt"/>
                <a:cs typeface="+mn-lt"/>
              </a:rPr>
              <a:t>(</a:t>
            </a:r>
            <a:r>
              <a:rPr lang="en-US" sz="2000" b="1" i="1" err="1">
                <a:solidFill>
                  <a:schemeClr val="bg1"/>
                </a:solidFill>
                <a:ea typeface="+mn-lt"/>
                <a:cs typeface="+mn-lt"/>
              </a:rPr>
              <a:t>StatCounter</a:t>
            </a:r>
            <a:r>
              <a:rPr lang="en-US" sz="2000" b="1" i="1">
                <a:solidFill>
                  <a:schemeClr val="bg1"/>
                </a:solidFill>
                <a:ea typeface="+mn-lt"/>
                <a:cs typeface="+mn-lt"/>
              </a:rPr>
              <a:t> Global Stats, 2025)</a:t>
            </a:r>
            <a:endParaRPr lang="en-US" sz="2000" b="1" i="1">
              <a:solidFill>
                <a:schemeClr val="bg1"/>
              </a:solidFill>
              <a:ea typeface="Calibri"/>
              <a:cs typeface="Calibri"/>
            </a:endParaRPr>
          </a:p>
          <a:p>
            <a:endParaRPr lang="en-US" sz="2000" i="1">
              <a:solidFill>
                <a:schemeClr val="bg1"/>
              </a:solidFill>
              <a:ea typeface="+mn-lt"/>
              <a:cs typeface="+mn-lt"/>
            </a:endParaRPr>
          </a:p>
          <a:p>
            <a:r>
              <a:rPr lang="en-US" sz="2400" b="1">
                <a:solidFill>
                  <a:schemeClr val="bg1"/>
                </a:solidFill>
                <a:ea typeface="+mn-lt"/>
                <a:cs typeface="+mn-lt"/>
              </a:rPr>
              <a:t>CVSS Score:</a:t>
            </a:r>
            <a:r>
              <a:rPr lang="en-US" sz="2400">
                <a:solidFill>
                  <a:schemeClr val="bg1"/>
                </a:solidFill>
                <a:ea typeface="+mn-lt"/>
                <a:cs typeface="+mn-lt"/>
              </a:rPr>
              <a:t> </a:t>
            </a:r>
            <a:r>
              <a:rPr lang="en-US" sz="2800">
                <a:solidFill>
                  <a:schemeClr val="bg1"/>
                </a:solidFill>
                <a:ea typeface="+mn-lt"/>
                <a:cs typeface="+mn-lt"/>
              </a:rPr>
              <a:t>5.5 - </a:t>
            </a:r>
            <a:r>
              <a:rPr lang="en-US" sz="2000">
                <a:solidFill>
                  <a:schemeClr val="bg1"/>
                </a:solidFill>
                <a:ea typeface="+mn-lt"/>
                <a:cs typeface="+mn-lt"/>
              </a:rPr>
              <a:t>Medium </a:t>
            </a:r>
          </a:p>
          <a:p>
            <a:r>
              <a:rPr lang="en-US" sz="2400" b="1">
                <a:solidFill>
                  <a:schemeClr val="bg1"/>
                </a:solidFill>
                <a:ea typeface="+mn-lt"/>
                <a:cs typeface="+mn-lt"/>
              </a:rPr>
              <a:t>Vector String: </a:t>
            </a:r>
            <a:r>
              <a:rPr lang="en-US" sz="2000">
                <a:solidFill>
                  <a:schemeClr val="bg1"/>
                </a:solidFill>
                <a:ea typeface="+mn-lt"/>
                <a:cs typeface="+mn-lt"/>
              </a:rPr>
              <a:t>CVSS:3.1/AV:L/AC:L/PR:L/UI:N/S:U/C:H/I:N/A:N</a:t>
            </a:r>
            <a:endParaRPr lang="en-US">
              <a:solidFill>
                <a:schemeClr val="bg1"/>
              </a:solidFill>
            </a:endParaRPr>
          </a:p>
          <a:p>
            <a:endParaRPr lang="en-US" sz="2000">
              <a:solidFill>
                <a:schemeClr val="bg1"/>
              </a:solidFill>
              <a:ea typeface="+mn-lt"/>
              <a:cs typeface="+mn-lt"/>
            </a:endParaRPr>
          </a:p>
          <a:p>
            <a:r>
              <a:rPr lang="en-US" sz="2000">
                <a:solidFill>
                  <a:schemeClr val="bg1"/>
                </a:solidFill>
                <a:ea typeface="+mn-lt"/>
                <a:cs typeface="+mn-lt"/>
              </a:rPr>
              <a:t>Rating range (4.0 - 6.9) Indicates that the vulnerability is significant but not immediately critical. However, A moderate risk needs to be addressed in a specified amount of time approx. 30 - 90 days </a:t>
            </a:r>
            <a:endParaRPr lang="en-US">
              <a:solidFill>
                <a:schemeClr val="bg1"/>
              </a:solidFill>
              <a:ea typeface="Calibri"/>
              <a:cs typeface="Calibri"/>
            </a:endParaRPr>
          </a:p>
          <a:p>
            <a:endParaRPr lang="en-US" sz="2000" b="1">
              <a:solidFill>
                <a:schemeClr val="bg1"/>
              </a:solidFill>
              <a:ea typeface="+mn-lt"/>
              <a:cs typeface="+mn-lt"/>
            </a:endParaRPr>
          </a:p>
          <a:p>
            <a:r>
              <a:rPr lang="en-US" sz="2400" b="1">
                <a:solidFill>
                  <a:schemeClr val="bg1"/>
                </a:solidFill>
                <a:ea typeface="+mn-lt"/>
                <a:cs typeface="+mn-lt"/>
              </a:rPr>
              <a:t>Recommended Mitigation:</a:t>
            </a:r>
          </a:p>
          <a:p>
            <a:r>
              <a:rPr lang="en-US" sz="2000">
                <a:solidFill>
                  <a:schemeClr val="bg1"/>
                </a:solidFill>
                <a:ea typeface="+mn-lt"/>
                <a:cs typeface="+mn-lt"/>
              </a:rPr>
              <a:t>Avoid unauthorised APKs, Keeping Android OS updated</a:t>
            </a:r>
          </a:p>
          <a:p>
            <a:endParaRPr lang="en-US" sz="2400">
              <a:latin typeface="Montserrat Bold"/>
            </a:endParaRPr>
          </a:p>
          <a:p>
            <a:endParaRPr lang="en-US" sz="2800">
              <a:solidFill>
                <a:schemeClr val="bg1"/>
              </a:solidFill>
              <a:ea typeface="+mn-lt"/>
              <a:cs typeface="+mn-lt"/>
            </a:endParaRPr>
          </a:p>
          <a:p>
            <a:endParaRPr lang="en-US" sz="2400">
              <a:latin typeface="Montserrat Bold"/>
            </a:endParaRPr>
          </a:p>
        </p:txBody>
      </p:sp>
      <p:pic>
        <p:nvPicPr>
          <p:cNvPr id="3" name="Picture 2" descr="A screen with a green logo&#10;&#10;AI-generated content may be incorrect.">
            <a:extLst>
              <a:ext uri="{FF2B5EF4-FFF2-40B4-BE49-F238E27FC236}">
                <a16:creationId xmlns:a16="http://schemas.microsoft.com/office/drawing/2014/main" id="{CC3B409B-5969-5AE3-A87D-32B9367842C7}"/>
              </a:ext>
            </a:extLst>
          </p:cNvPr>
          <p:cNvPicPr>
            <a:picLocks noChangeAspect="1"/>
          </p:cNvPicPr>
          <p:nvPr/>
        </p:nvPicPr>
        <p:blipFill>
          <a:blip r:embed="rId3">
            <a:extLst>
              <a:ext uri="{BEBA8EAE-BF5A-486C-A8C5-ECC9F3942E4B}">
                <a14:imgProps xmlns:a14="http://schemas.microsoft.com/office/drawing/2010/main">
                  <a14:imgLayer r:embed="rId4">
                    <a14:imgEffect>
                      <a14:saturation sat="254000"/>
                    </a14:imgEffect>
                    <a14:imgEffect>
                      <a14:brightnessContrast bright="-19000" contrast="60000"/>
                    </a14:imgEffect>
                  </a14:imgLayer>
                </a14:imgProps>
              </a:ext>
            </a:extLst>
          </a:blip>
          <a:stretch>
            <a:fillRect/>
          </a:stretch>
        </p:blipFill>
        <p:spPr>
          <a:xfrm>
            <a:off x="11546261" y="1743074"/>
            <a:ext cx="6255684" cy="5153585"/>
          </a:xfrm>
          <a:prstGeom prst="rect">
            <a:avLst/>
          </a:prstGeom>
        </p:spPr>
      </p:pic>
      <p:pic>
        <p:nvPicPr>
          <p:cNvPr id="4" name="Picture 3" descr="A cell phone with a cartoon character on it&#10;&#10;AI-generated content may be incorrect.">
            <a:extLst>
              <a:ext uri="{FF2B5EF4-FFF2-40B4-BE49-F238E27FC236}">
                <a16:creationId xmlns:a16="http://schemas.microsoft.com/office/drawing/2014/main" id="{ECB992A8-0C5B-0732-01FC-AB71FFE3F315}"/>
              </a:ext>
            </a:extLst>
          </p:cNvPr>
          <p:cNvPicPr>
            <a:picLocks noChangeAspect="1"/>
          </p:cNvPicPr>
          <p:nvPr/>
        </p:nvPicPr>
        <p:blipFill>
          <a:blip r:embed="rId5"/>
          <a:stretch>
            <a:fillRect/>
          </a:stretch>
        </p:blipFill>
        <p:spPr>
          <a:xfrm rot="1560000">
            <a:off x="13026278" y="5199529"/>
            <a:ext cx="3295650" cy="4191000"/>
          </a:xfrm>
          <a:prstGeom prst="ellipse">
            <a:avLst/>
          </a:prstGeom>
          <a:ln>
            <a:noFill/>
          </a:ln>
          <a:effectLst>
            <a:softEdge rad="112500"/>
          </a:effectLst>
        </p:spPr>
      </p:pic>
    </p:spTree>
    <p:extLst>
      <p:ext uri="{BB962C8B-B14F-4D97-AF65-F5344CB8AC3E}">
        <p14:creationId xmlns:p14="http://schemas.microsoft.com/office/powerpoint/2010/main" val="6750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6477000" cy="3086100"/>
          </a:xfrm>
          <a:custGeom>
            <a:avLst/>
            <a:gdLst/>
            <a:ahLst/>
            <a:cxnLst/>
            <a:rect l="l" t="t" r="r" b="b"/>
            <a:pathLst>
              <a:path w="6262550" h="6262550">
                <a:moveTo>
                  <a:pt x="0" y="0"/>
                </a:moveTo>
                <a:lnTo>
                  <a:pt x="6262550" y="0"/>
                </a:lnTo>
                <a:lnTo>
                  <a:pt x="6262550" y="6262550"/>
                </a:lnTo>
                <a:lnTo>
                  <a:pt x="0" y="62625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 name="TextBox 6">
            <a:extLst>
              <a:ext uri="{FF2B5EF4-FFF2-40B4-BE49-F238E27FC236}">
                <a16:creationId xmlns:a16="http://schemas.microsoft.com/office/drawing/2014/main" id="{A8951825-F774-2EBA-7566-387A414C0062}"/>
              </a:ext>
            </a:extLst>
          </p:cNvPr>
          <p:cNvSpPr txBox="1"/>
          <p:nvPr/>
        </p:nvSpPr>
        <p:spPr>
          <a:xfrm>
            <a:off x="1631308" y="6955182"/>
            <a:ext cx="7277950" cy="2303118"/>
          </a:xfrm>
          <a:prstGeom prst="rect">
            <a:avLst/>
          </a:prstGeom>
        </p:spPr>
        <p:txBody>
          <a:bodyPr lIns="362344" tIns="362344" rIns="362344" bIns="362344"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Rectangle: Rounded Corners 5">
            <a:extLst>
              <a:ext uri="{FF2B5EF4-FFF2-40B4-BE49-F238E27FC236}">
                <a16:creationId xmlns:a16="http://schemas.microsoft.com/office/drawing/2014/main" id="{2CE92333-7A91-F618-93B3-EB1AB7555C55}"/>
              </a:ext>
            </a:extLst>
          </p:cNvPr>
          <p:cNvSpPr/>
          <p:nvPr/>
        </p:nvSpPr>
        <p:spPr>
          <a:xfrm>
            <a:off x="5086351" y="1994631"/>
            <a:ext cx="9301162" cy="8260148"/>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bg1"/>
                </a:solidFill>
              </a:rPr>
              <a:t>CVE-2026-20963</a:t>
            </a:r>
            <a:r>
              <a:rPr lang="en-US">
                <a:solidFill>
                  <a:schemeClr val="bg1"/>
                </a:solidFill>
              </a:rPr>
              <a:t> is a high-risk remote code execution (RCE) flaw in Microsoft SharePoint Server, caused by unsafe data deserialization. With a CVSS score of 8.8, it poses a serious threat due to its ease of exploitation and potential business disruption.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white"/>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a:ea typeface="+mn-ea"/>
                <a:cs typeface="+mn-cs"/>
              </a:rPr>
              <a:t>Affected Products ​</a:t>
            </a:r>
            <a:endParaRPr kumimoji="0" lang="en-US" b="1" i="0" u="none" strike="noStrike" kern="1200" cap="none" spc="0" normalizeH="0" baseline="0" noProof="0">
              <a:ln>
                <a:noFill/>
              </a:ln>
              <a:solidFill>
                <a:prstClr val="white"/>
              </a:solidFill>
              <a:effectLst/>
              <a:uLnTx/>
              <a:uFillTx/>
              <a:latin typeface="Calibri"/>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prstClr val="white"/>
                </a:solidFill>
                <a:effectLst/>
                <a:uLnTx/>
                <a:uFillTx/>
                <a:latin typeface="Calibri"/>
                <a:ea typeface="+mn-ea"/>
                <a:cs typeface="+mn-cs"/>
              </a:rPr>
              <a:t>MS SharePoint Server (Subscription Edition) - Versions before 16.0.19127.20442.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prstClr val="white"/>
                </a:solidFill>
                <a:effectLst/>
                <a:uLnTx/>
                <a:uFillTx/>
                <a:latin typeface="Calibri"/>
                <a:ea typeface="+mn-ea"/>
                <a:cs typeface="+mn-cs"/>
              </a:rPr>
              <a:t>MS SharePoint Server 2019 - All unpatched deployments are affected.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prstClr val="white"/>
                </a:solidFill>
                <a:effectLst/>
                <a:uLnTx/>
                <a:uFillTx/>
                <a:latin typeface="Calibri"/>
                <a:ea typeface="+mn-ea"/>
                <a:cs typeface="+mn-cs"/>
              </a:rPr>
              <a:t>MS SharePoint Server 2016 Enterprise Edition.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white"/>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a:ea typeface="+mn-ea"/>
                <a:cs typeface="+mn-cs"/>
              </a:rPr>
              <a:t>Discovery Timeline ​</a:t>
            </a:r>
            <a:endParaRPr kumimoji="0" lang="en-US" b="1" i="0" u="none" strike="noStrike" kern="1200" cap="none" spc="0" normalizeH="0" baseline="0" noProof="0">
              <a:ln>
                <a:noFill/>
              </a:ln>
              <a:solidFill>
                <a:prstClr val="white"/>
              </a:solidFill>
              <a:effectLst/>
              <a:uLnTx/>
              <a:uFillTx/>
              <a:latin typeface="Calibri"/>
              <a:ea typeface="Calibri"/>
              <a:cs typeface="Calibri"/>
            </a:endParaRPr>
          </a:p>
          <a:p>
            <a:pPr lvl="0"/>
            <a:r>
              <a:rPr lang="en-US"/>
              <a:t>CVE‑2026‑20963 was patched by Microsoft on January 13, 2026, but active exploitation was only publicly confirmed in March 2026. </a:t>
            </a:r>
          </a:p>
          <a:p>
            <a:pPr lvl="0"/>
            <a:endParaRPr kumimoji="0" lang="en-US" b="0" i="0" u="none" strike="noStrike" kern="1200" cap="none" spc="0" normalizeH="0" baseline="0" noProof="0">
              <a:ln>
                <a:noFill/>
              </a:ln>
              <a:solidFill>
                <a:prstClr val="white"/>
              </a:solidFill>
              <a:effectLst/>
              <a:uLnTx/>
              <a:uFillTx/>
              <a:latin typeface="Calibri"/>
              <a:ea typeface="+mn-ea"/>
              <a:cs typeface="+mn-cs"/>
            </a:endParaRPr>
          </a:p>
          <a:p>
            <a:r>
              <a:rPr lang="en-US" b="1">
                <a:solidFill>
                  <a:schemeClr val="bg1"/>
                </a:solidFill>
              </a:rPr>
              <a:t>Business Impact &amp; Risk Analysis (in the South African context) :</a:t>
            </a:r>
          </a:p>
          <a:p>
            <a:r>
              <a:rPr lang="en-US">
                <a:solidFill>
                  <a:schemeClr val="bg1"/>
                </a:solidFill>
              </a:rPr>
              <a:t>Local municipalities in SA are still using SharePoint “on prem” for collaboration and information sharing, should this vulnerability be exploited it will have serious implications for these entities.</a:t>
            </a:r>
          </a:p>
          <a:p>
            <a:endParaRPr kumimoji="0" lang="en-US"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a:ea typeface="+mn-ea"/>
                <a:cs typeface="+mn-cs"/>
              </a:rPr>
              <a:t>Immediate Actions ​</a:t>
            </a:r>
            <a:endParaRPr kumimoji="0" lang="en-US" b="1" i="0" u="none" strike="noStrike" kern="1200" cap="none" spc="0" normalizeH="0" baseline="0" noProof="0">
              <a:ln>
                <a:noFill/>
              </a:ln>
              <a:solidFill>
                <a:prstClr val="white"/>
              </a:solidFill>
              <a:effectLst/>
              <a:uLnTx/>
              <a:uFillTx/>
              <a:latin typeface="Calibri"/>
              <a:ea typeface="Calibri"/>
              <a:cs typeface="Calibri"/>
            </a:endParaRPr>
          </a:p>
          <a:p>
            <a:r>
              <a:rPr lang="en-US">
                <a:solidFill>
                  <a:schemeClr val="bg1"/>
                </a:solidFill>
              </a:rPr>
              <a:t>MS issued fixes in Jan 2026. All on‑prem servers should be updated without delay.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white"/>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a:ea typeface="+mn-ea"/>
                <a:cs typeface="+mn-cs"/>
              </a:rPr>
              <a:t>Workarounds ​</a:t>
            </a:r>
            <a:endParaRPr kumimoji="0" lang="en-US" b="1" i="0" u="none" strike="noStrike" kern="1200" cap="none" spc="0" normalizeH="0" baseline="0" noProof="0">
              <a:ln>
                <a:noFill/>
              </a:ln>
              <a:solidFill>
                <a:prstClr val="white"/>
              </a:solidFill>
              <a:effectLst/>
              <a:uLnTx/>
              <a:uFillTx/>
              <a:latin typeface="Calibri"/>
              <a:ea typeface="Calibri"/>
              <a:cs typeface="Calibri"/>
            </a:endParaRPr>
          </a:p>
          <a:p>
            <a:r>
              <a:rPr lang="en-US">
                <a:solidFill>
                  <a:schemeClr val="bg1"/>
                </a:solidFill>
              </a:rPr>
              <a:t>Threat Hunting: </a:t>
            </a:r>
            <a:r>
              <a:rPr lang="en-ZA">
                <a:solidFill>
                  <a:schemeClr val="bg1"/>
                </a:solidFill>
              </a:rPr>
              <a:t>If patching is delayed, security teams should monitor for ” </a:t>
            </a:r>
            <a:r>
              <a:rPr lang="en-US">
                <a:solidFill>
                  <a:schemeClr val="bg1"/>
                </a:solidFill>
              </a:rPr>
              <a:t>Indicators of Compromise"</a:t>
            </a:r>
            <a:r>
              <a:rPr lang="en-ZA">
                <a:solidFill>
                  <a:schemeClr val="bg1"/>
                </a:solidFill>
              </a:rPr>
              <a:t> </a:t>
            </a:r>
            <a:r>
              <a:rPr lang="en-ZA" err="1">
                <a:solidFill>
                  <a:schemeClr val="bg1"/>
                </a:solidFill>
              </a:rPr>
              <a:t>IoCs</a:t>
            </a:r>
            <a:r>
              <a:rPr lang="en-ZA">
                <a:solidFill>
                  <a:schemeClr val="bg1"/>
                </a:solidFill>
              </a:rPr>
              <a:t>:</a:t>
            </a:r>
            <a:endParaRPr lang="en-ZA">
              <a:solidFill>
                <a:schemeClr val="bg1"/>
              </a:solidFill>
              <a:ea typeface="Calibri"/>
              <a:cs typeface="Calibri"/>
            </a:endParaRPr>
          </a:p>
          <a:p>
            <a:pPr marL="857250" lvl="1" indent="-400050">
              <a:buFont typeface="+mj-lt"/>
              <a:buAutoNum type="romanUcPeriod"/>
            </a:pPr>
            <a:r>
              <a:rPr lang="en-ZA">
                <a:solidFill>
                  <a:schemeClr val="bg1"/>
                </a:solidFill>
              </a:rPr>
              <a:t>Suspicious Processes.</a:t>
            </a:r>
          </a:p>
          <a:p>
            <a:pPr marL="857250" lvl="1" indent="-400050">
              <a:buFont typeface="+mj-lt"/>
              <a:buAutoNum type="romanUcPeriod"/>
            </a:pPr>
            <a:r>
              <a:rPr lang="en-ZA">
                <a:solidFill>
                  <a:schemeClr val="bg1"/>
                </a:solidFill>
              </a:rPr>
              <a:t>Web Shells: New or altered .</a:t>
            </a:r>
            <a:r>
              <a:rPr lang="en-ZA" err="1">
                <a:solidFill>
                  <a:schemeClr val="bg1"/>
                </a:solidFill>
              </a:rPr>
              <a:t>aspx</a:t>
            </a:r>
            <a:r>
              <a:rPr lang="en-ZA">
                <a:solidFill>
                  <a:schemeClr val="bg1"/>
                </a:solidFill>
              </a:rPr>
              <a:t>/.</a:t>
            </a:r>
            <a:r>
              <a:rPr lang="en-ZA" err="1">
                <a:solidFill>
                  <a:schemeClr val="bg1"/>
                </a:solidFill>
              </a:rPr>
              <a:t>ashx</a:t>
            </a:r>
            <a:r>
              <a:rPr lang="en-ZA">
                <a:solidFill>
                  <a:schemeClr val="bg1"/>
                </a:solidFill>
              </a:rPr>
              <a:t> files in SharePoint directories</a:t>
            </a:r>
            <a:endParaRPr lang="en-ZA">
              <a:solidFill>
                <a:schemeClr val="bg1"/>
              </a:solidFill>
              <a:ea typeface="Calibri"/>
              <a:cs typeface="Calibri"/>
            </a:endParaRPr>
          </a:p>
          <a:p>
            <a:r>
              <a:rPr lang="en-US">
                <a:solidFill>
                  <a:schemeClr val="bg1"/>
                </a:solidFill>
              </a:rPr>
              <a:t>Structural Defense (AI Tools)</a:t>
            </a:r>
            <a:br>
              <a:rPr lang="en-US"/>
            </a:br>
            <a:r>
              <a:rPr lang="en-US">
                <a:solidFill>
                  <a:schemeClr val="bg1"/>
                </a:solidFill>
              </a:rPr>
              <a:t>AI‑driven security can spot </a:t>
            </a:r>
            <a:r>
              <a:rPr lang="en-US" err="1">
                <a:solidFill>
                  <a:schemeClr val="bg1"/>
                </a:solidFill>
              </a:rPr>
              <a:t>behavioural</a:t>
            </a:r>
            <a:r>
              <a:rPr lang="en-US">
                <a:solidFill>
                  <a:schemeClr val="bg1"/>
                </a:solidFill>
              </a:rPr>
              <a:t> anomalies (e.g., unusual outbound connections) that signature‑based tools often miss.</a:t>
            </a:r>
            <a:endParaRPr lang="en-US">
              <a:solidFill>
                <a:schemeClr val="bg1"/>
              </a:solidFill>
              <a:ea typeface="Calibri"/>
              <a:cs typeface="Calibri"/>
            </a:endParaRPr>
          </a:p>
        </p:txBody>
      </p:sp>
      <p:pic>
        <p:nvPicPr>
          <p:cNvPr id="7" name="Picture 6">
            <a:extLst>
              <a:ext uri="{FF2B5EF4-FFF2-40B4-BE49-F238E27FC236}">
                <a16:creationId xmlns:a16="http://schemas.microsoft.com/office/drawing/2014/main" id="{57C4A62E-31F8-62C5-D4E2-90B15F4619AB}"/>
              </a:ext>
            </a:extLst>
          </p:cNvPr>
          <p:cNvPicPr>
            <a:picLocks noChangeAspect="1"/>
          </p:cNvPicPr>
          <p:nvPr/>
        </p:nvPicPr>
        <p:blipFill>
          <a:blip r:embed="rId4"/>
          <a:srcRect l="-3061" r="-297" b="29369"/>
          <a:stretch>
            <a:fillRect/>
          </a:stretch>
        </p:blipFill>
        <p:spPr>
          <a:xfrm>
            <a:off x="1321" y="3085282"/>
            <a:ext cx="5073412" cy="5367655"/>
          </a:xfrm>
          <a:prstGeom prst="rect">
            <a:avLst/>
          </a:prstGeom>
        </p:spPr>
      </p:pic>
      <p:sp>
        <p:nvSpPr>
          <p:cNvPr id="9" name="TextBox 16">
            <a:extLst>
              <a:ext uri="{FF2B5EF4-FFF2-40B4-BE49-F238E27FC236}">
                <a16:creationId xmlns:a16="http://schemas.microsoft.com/office/drawing/2014/main" id="{3EF12232-490E-FDC3-8ABF-086BC18EBD0B}"/>
              </a:ext>
            </a:extLst>
          </p:cNvPr>
          <p:cNvSpPr txBox="1"/>
          <p:nvPr/>
        </p:nvSpPr>
        <p:spPr>
          <a:xfrm>
            <a:off x="710071" y="-2726"/>
            <a:ext cx="15876294" cy="2696764"/>
          </a:xfrm>
          <a:prstGeom prst="rect">
            <a:avLst/>
          </a:prstGeom>
        </p:spPr>
        <p:txBody>
          <a:bodyPr wrap="square" lIns="0" tIns="0" rIns="0" bIns="0" rtlCol="0" anchor="t">
            <a:spAutoFit/>
          </a:bodyPr>
          <a:lstStyle/>
          <a:p>
            <a:pPr algn="ctr">
              <a:lnSpc>
                <a:spcPts val="6999"/>
              </a:lnSpc>
            </a:pPr>
            <a:r>
              <a:rPr lang="en-ZA" sz="4400" b="1">
                <a:solidFill>
                  <a:schemeClr val="bg1"/>
                </a:solidFill>
                <a:latin typeface="Montserrat Bold" panose="00000800000000000000" charset="0"/>
              </a:rPr>
              <a:t>CVE-2026-20963</a:t>
            </a:r>
            <a:r>
              <a:rPr lang="en-ZA" sz="4800" b="1">
                <a:solidFill>
                  <a:schemeClr val="bg1"/>
                </a:solidFill>
                <a:latin typeface="Montserrat Bold" panose="00000800000000000000" charset="0"/>
              </a:rPr>
              <a:t>: </a:t>
            </a:r>
            <a:r>
              <a:rPr lang="en-GB" sz="4800" b="1">
                <a:solidFill>
                  <a:schemeClr val="bg1"/>
                </a:solidFill>
                <a:latin typeface="Montserrat Bold" panose="00000800000000000000" charset="0"/>
              </a:rPr>
              <a:t>Enterprise Software Vulnerability - </a:t>
            </a:r>
            <a:r>
              <a:rPr lang="en-ZA" sz="4800" b="1">
                <a:solidFill>
                  <a:schemeClr val="bg1"/>
                </a:solidFill>
                <a:latin typeface="Montserrat Bold" panose="00000800000000000000" charset="0"/>
              </a:rPr>
              <a:t>SharePoint RCE Vulnerability</a:t>
            </a:r>
            <a:endParaRPr lang="en-US" sz="4800" b="1">
              <a:solidFill>
                <a:schemeClr val="bg1"/>
              </a:solidFill>
              <a:latin typeface="Montserrat Bold" panose="00000800000000000000" charset="0"/>
              <a:ea typeface="Montserrat Bold"/>
              <a:cs typeface="Montserrat Bold"/>
              <a:sym typeface="Montserrat Bold"/>
            </a:endParaRPr>
          </a:p>
          <a:p>
            <a:pPr marL="0" marR="0" lvl="0" indent="0" algn="ctr" defTabSz="914400" rtl="0" eaLnBrk="1" fontAlgn="auto" latinLnBrk="0" hangingPunct="1">
              <a:lnSpc>
                <a:spcPts val="6998"/>
              </a:lnSpc>
              <a:spcBef>
                <a:spcPts val="0"/>
              </a:spcBef>
              <a:spcAft>
                <a:spcPts val="0"/>
              </a:spcAft>
              <a:buClrTx/>
              <a:buSzTx/>
              <a:buFontTx/>
              <a:buNone/>
              <a:tabLst/>
              <a:defRPr/>
            </a:pPr>
            <a:endParaRPr kumimoji="0" lang="en-ZA" sz="7200" b="1" i="0" u="none" strike="noStrike" kern="1200" cap="none" spc="0" normalizeH="0" baseline="0" noProof="0">
              <a:ln>
                <a:noFill/>
              </a:ln>
              <a:solidFill>
                <a:srgbClr val="FFFFFF"/>
              </a:solidFill>
              <a:effectLst/>
              <a:uLnTx/>
              <a:uFillTx/>
              <a:latin typeface="Montserrat Bold"/>
              <a:ea typeface="Montserrat Bold"/>
              <a:cs typeface="Montserrat Bold"/>
            </a:endParaRPr>
          </a:p>
        </p:txBody>
      </p:sp>
      <p:pic>
        <p:nvPicPr>
          <p:cNvPr id="11" name="Picture 10">
            <a:extLst>
              <a:ext uri="{FF2B5EF4-FFF2-40B4-BE49-F238E27FC236}">
                <a16:creationId xmlns:a16="http://schemas.microsoft.com/office/drawing/2014/main" id="{F463AE73-031E-9B66-9FB9-7653D3A16C56}"/>
              </a:ext>
            </a:extLst>
          </p:cNvPr>
          <p:cNvPicPr>
            <a:picLocks noChangeAspect="1"/>
          </p:cNvPicPr>
          <p:nvPr/>
        </p:nvPicPr>
        <p:blipFill>
          <a:blip r:embed="rId5"/>
          <a:stretch>
            <a:fillRect/>
          </a:stretch>
        </p:blipFill>
        <p:spPr>
          <a:xfrm>
            <a:off x="14339712" y="2694038"/>
            <a:ext cx="3902871" cy="2130571"/>
          </a:xfrm>
          <a:prstGeom prst="rect">
            <a:avLst/>
          </a:prstGeom>
        </p:spPr>
      </p:pic>
      <p:pic>
        <p:nvPicPr>
          <p:cNvPr id="13" name="Picture 12">
            <a:extLst>
              <a:ext uri="{FF2B5EF4-FFF2-40B4-BE49-F238E27FC236}">
                <a16:creationId xmlns:a16="http://schemas.microsoft.com/office/drawing/2014/main" id="{5E504D10-DDA5-9EC4-B276-A7350FE8CEFF}"/>
              </a:ext>
            </a:extLst>
          </p:cNvPr>
          <p:cNvPicPr>
            <a:picLocks noChangeAspect="1"/>
          </p:cNvPicPr>
          <p:nvPr/>
        </p:nvPicPr>
        <p:blipFill>
          <a:blip r:embed="rId6"/>
          <a:stretch>
            <a:fillRect/>
          </a:stretch>
        </p:blipFill>
        <p:spPr>
          <a:xfrm>
            <a:off x="14455433" y="6286499"/>
            <a:ext cx="3683578" cy="2454105"/>
          </a:xfrm>
          <a:prstGeom prst="rect">
            <a:avLst/>
          </a:prstGeom>
        </p:spPr>
      </p:pic>
    </p:spTree>
    <p:extLst>
      <p:ext uri="{BB962C8B-B14F-4D97-AF65-F5344CB8AC3E}">
        <p14:creationId xmlns:p14="http://schemas.microsoft.com/office/powerpoint/2010/main" val="213260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A7343B61-3B7F-0FBB-A9F0-B0513FC943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F487F-67A8-D100-7642-AB973CC4C0CB}"/>
              </a:ext>
            </a:extLst>
          </p:cNvPr>
          <p:cNvSpPr/>
          <p:nvPr/>
        </p:nvSpPr>
        <p:spPr>
          <a:xfrm rot="-10800000">
            <a:off x="0" y="0"/>
            <a:ext cx="6477000" cy="3086100"/>
          </a:xfrm>
          <a:custGeom>
            <a:avLst/>
            <a:gdLst/>
            <a:ahLst/>
            <a:cxnLst/>
            <a:rect l="l" t="t" r="r" b="b"/>
            <a:pathLst>
              <a:path w="6262550" h="6262550">
                <a:moveTo>
                  <a:pt x="0" y="0"/>
                </a:moveTo>
                <a:lnTo>
                  <a:pt x="6262550" y="0"/>
                </a:lnTo>
                <a:lnTo>
                  <a:pt x="6262550" y="6262550"/>
                </a:lnTo>
                <a:lnTo>
                  <a:pt x="0" y="62625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5" name="TextBox 15">
            <a:extLst>
              <a:ext uri="{FF2B5EF4-FFF2-40B4-BE49-F238E27FC236}">
                <a16:creationId xmlns:a16="http://schemas.microsoft.com/office/drawing/2014/main" id="{D6F7610D-0ED9-888B-600F-5F1260053E11}"/>
              </a:ext>
            </a:extLst>
          </p:cNvPr>
          <p:cNvSpPr txBox="1"/>
          <p:nvPr/>
        </p:nvSpPr>
        <p:spPr>
          <a:xfrm>
            <a:off x="102134" y="142061"/>
            <a:ext cx="17652466" cy="913583"/>
          </a:xfrm>
          <a:prstGeom prst="rect">
            <a:avLst/>
          </a:prstGeom>
        </p:spPr>
        <p:txBody>
          <a:bodyPr wrap="square" lIns="0" tIns="0" rIns="0" bIns="0" rtlCol="0" anchor="t">
            <a:spAutoFit/>
          </a:bodyPr>
          <a:lstStyle/>
          <a:p>
            <a:pPr algn="ctr">
              <a:lnSpc>
                <a:spcPts val="6999"/>
              </a:lnSpc>
              <a:spcBef>
                <a:spcPct val="0"/>
              </a:spcBef>
            </a:pPr>
            <a:r>
              <a:rPr lang="en-ZA" sz="6000">
                <a:solidFill>
                  <a:schemeClr val="bg1"/>
                </a:solidFill>
                <a:latin typeface="Montserrat Bold" panose="00000800000000000000" charset="0"/>
              </a:rPr>
              <a:t>Considering AI</a:t>
            </a:r>
            <a:r>
              <a:rPr lang="en-ZA" sz="6000">
                <a:solidFill>
                  <a:schemeClr val="bg1"/>
                </a:solidFill>
                <a:latin typeface="Montserrat Bold" panose="00000800000000000000" charset="0"/>
                <a:ea typeface="Calibri"/>
                <a:cs typeface="Calibri"/>
              </a:rPr>
              <a:t> Driven Security Tools</a:t>
            </a:r>
            <a:endParaRPr lang="en-US" sz="6000">
              <a:solidFill>
                <a:schemeClr val="bg1"/>
              </a:solidFill>
              <a:latin typeface="Montserrat Bold" panose="00000800000000000000" charset="0"/>
              <a:ea typeface="Calibri"/>
              <a:cs typeface="Calibri"/>
            </a:endParaRPr>
          </a:p>
        </p:txBody>
      </p:sp>
      <p:pic>
        <p:nvPicPr>
          <p:cNvPr id="4" name="Picture 3">
            <a:extLst>
              <a:ext uri="{FF2B5EF4-FFF2-40B4-BE49-F238E27FC236}">
                <a16:creationId xmlns:a16="http://schemas.microsoft.com/office/drawing/2014/main" id="{8AB00519-E5F0-3529-DB0C-7AC493ADA7D0}"/>
              </a:ext>
            </a:extLst>
          </p:cNvPr>
          <p:cNvPicPr>
            <a:picLocks noChangeAspect="1"/>
          </p:cNvPicPr>
          <p:nvPr/>
        </p:nvPicPr>
        <p:blipFill>
          <a:blip r:embed="rId4"/>
          <a:stretch>
            <a:fillRect/>
          </a:stretch>
        </p:blipFill>
        <p:spPr>
          <a:xfrm>
            <a:off x="3920484" y="4265420"/>
            <a:ext cx="10175550" cy="5738892"/>
          </a:xfrm>
          <a:prstGeom prst="rect">
            <a:avLst/>
          </a:prstGeom>
        </p:spPr>
      </p:pic>
      <p:sp>
        <p:nvSpPr>
          <p:cNvPr id="5" name="TextBox 4">
            <a:extLst>
              <a:ext uri="{FF2B5EF4-FFF2-40B4-BE49-F238E27FC236}">
                <a16:creationId xmlns:a16="http://schemas.microsoft.com/office/drawing/2014/main" id="{1D951EAF-F9A9-FD38-809D-21CBB08A6853}"/>
              </a:ext>
            </a:extLst>
          </p:cNvPr>
          <p:cNvSpPr txBox="1"/>
          <p:nvPr/>
        </p:nvSpPr>
        <p:spPr>
          <a:xfrm>
            <a:off x="594066" y="1067203"/>
            <a:ext cx="16808335" cy="3416320"/>
          </a:xfrm>
          <a:prstGeom prst="rect">
            <a:avLst/>
          </a:prstGeom>
          <a:noFill/>
        </p:spPr>
        <p:txBody>
          <a:bodyPr wrap="square" lIns="91440" tIns="45720" rIns="91440" bIns="45720" rtlCol="0" anchor="t">
            <a:spAutoFit/>
          </a:bodyPr>
          <a:lstStyle/>
          <a:p>
            <a:r>
              <a:rPr lang="en-US" sz="2400" b="1">
                <a:solidFill>
                  <a:schemeClr val="bg1"/>
                </a:solidFill>
              </a:rPr>
              <a:t>AI‑Driven Security Tools: Strategic Asset, Not a Silver Bullet:</a:t>
            </a:r>
          </a:p>
          <a:p>
            <a:endParaRPr lang="en-US" sz="2400" b="1">
              <a:solidFill>
                <a:schemeClr val="bg1"/>
              </a:solidFill>
            </a:endParaRPr>
          </a:p>
          <a:p>
            <a:r>
              <a:rPr lang="en-US" sz="2400">
                <a:solidFill>
                  <a:schemeClr val="bg1"/>
                </a:solidFill>
              </a:rPr>
              <a:t>AI tools offer major advantages such as, faster threat detection, predictive insights, and automated response, however they also bring challenges like false positives, high costs, and expanded attack surfaces.</a:t>
            </a:r>
            <a:endParaRPr lang="en-US" sz="2400">
              <a:solidFill>
                <a:schemeClr val="bg1"/>
              </a:solidFill>
              <a:ea typeface="Calibri"/>
              <a:cs typeface="Calibri"/>
            </a:endParaRPr>
          </a:p>
          <a:p>
            <a:endParaRPr lang="en-US" sz="2400">
              <a:solidFill>
                <a:schemeClr val="bg1"/>
              </a:solidFill>
            </a:endParaRPr>
          </a:p>
          <a:p>
            <a:r>
              <a:rPr lang="en-US" sz="2400">
                <a:solidFill>
                  <a:schemeClr val="bg1"/>
                </a:solidFill>
              </a:rPr>
              <a:t>Their real strength lies in a hybrid approach:</a:t>
            </a:r>
          </a:p>
          <a:p>
            <a:r>
              <a:rPr lang="en-US" sz="2400">
                <a:solidFill>
                  <a:schemeClr val="bg1"/>
                </a:solidFill>
              </a:rPr>
              <a:t>- Use AI for speed, scale, and pattern recognition.</a:t>
            </a:r>
          </a:p>
          <a:p>
            <a:r>
              <a:rPr lang="en-US" sz="2400">
                <a:solidFill>
                  <a:schemeClr val="bg1"/>
                </a:solidFill>
              </a:rPr>
              <a:t>- Rely on human expertise for context, judgment, and oversight.</a:t>
            </a:r>
            <a:endParaRPr lang="en-US" sz="2400">
              <a:solidFill>
                <a:schemeClr val="bg1"/>
              </a:solidFill>
              <a:ea typeface="Calibri"/>
              <a:cs typeface="Calibri"/>
            </a:endParaRPr>
          </a:p>
          <a:p>
            <a:endParaRPr lang="en-US" sz="2400">
              <a:solidFill>
                <a:schemeClr val="bg1"/>
              </a:solidFill>
              <a:ea typeface="Calibri"/>
              <a:cs typeface="Calibri"/>
            </a:endParaRPr>
          </a:p>
        </p:txBody>
      </p:sp>
    </p:spTree>
    <p:extLst>
      <p:ext uri="{BB962C8B-B14F-4D97-AF65-F5344CB8AC3E}">
        <p14:creationId xmlns:p14="http://schemas.microsoft.com/office/powerpoint/2010/main" val="1453653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0BB7B114-DB82-AF3B-F291-5075145F3A1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01592A-F4D2-0A5C-13A7-E0DEA0644E9F}"/>
              </a:ext>
            </a:extLst>
          </p:cNvPr>
          <p:cNvSpPr/>
          <p:nvPr/>
        </p:nvSpPr>
        <p:spPr>
          <a:xfrm rot="-10800000">
            <a:off x="0" y="0"/>
            <a:ext cx="6477000" cy="3086100"/>
          </a:xfrm>
          <a:custGeom>
            <a:avLst/>
            <a:gdLst/>
            <a:ahLst/>
            <a:cxnLst/>
            <a:rect l="l" t="t" r="r" b="b"/>
            <a:pathLst>
              <a:path w="6262550" h="6262550">
                <a:moveTo>
                  <a:pt x="0" y="0"/>
                </a:moveTo>
                <a:lnTo>
                  <a:pt x="6262550" y="0"/>
                </a:lnTo>
                <a:lnTo>
                  <a:pt x="6262550" y="6262550"/>
                </a:lnTo>
                <a:lnTo>
                  <a:pt x="0" y="62625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5" name="TextBox 15">
            <a:extLst>
              <a:ext uri="{FF2B5EF4-FFF2-40B4-BE49-F238E27FC236}">
                <a16:creationId xmlns:a16="http://schemas.microsoft.com/office/drawing/2014/main" id="{F7498358-9798-BCB0-36B4-AB25DF11141F}"/>
              </a:ext>
            </a:extLst>
          </p:cNvPr>
          <p:cNvSpPr txBox="1"/>
          <p:nvPr/>
        </p:nvSpPr>
        <p:spPr>
          <a:xfrm>
            <a:off x="322713" y="282429"/>
            <a:ext cx="17652466" cy="897682"/>
          </a:xfrm>
          <a:prstGeom prst="rect">
            <a:avLst/>
          </a:prstGeom>
        </p:spPr>
        <p:txBody>
          <a:bodyPr wrap="square" lIns="0" tIns="0" rIns="0" bIns="0" rtlCol="0" anchor="t">
            <a:spAutoFit/>
          </a:bodyPr>
          <a:lstStyle/>
          <a:p>
            <a:pPr lvl="0">
              <a:lnSpc>
                <a:spcPts val="6999"/>
              </a:lnSpc>
              <a:spcBef>
                <a:spcPct val="0"/>
              </a:spcBef>
            </a:pPr>
            <a:r>
              <a:rPr lang="en-ZA" sz="4400">
                <a:solidFill>
                  <a:schemeClr val="bg1"/>
                </a:solidFill>
              </a:rPr>
              <a:t> </a:t>
            </a:r>
            <a:r>
              <a:rPr lang="en-ZA" sz="6950" b="1">
                <a:solidFill>
                  <a:schemeClr val="bg1"/>
                </a:solidFill>
                <a:latin typeface="Montserrat Bold"/>
              </a:rPr>
              <a:t>Software security recommendations</a:t>
            </a:r>
            <a:endParaRPr lang="en-US" sz="6950" b="1">
              <a:solidFill>
                <a:schemeClr val="bg1"/>
              </a:solidFill>
              <a:latin typeface="Montserrat Bold"/>
            </a:endParaRPr>
          </a:p>
        </p:txBody>
      </p:sp>
      <p:sp>
        <p:nvSpPr>
          <p:cNvPr id="17" name="TextBox 17">
            <a:extLst>
              <a:ext uri="{FF2B5EF4-FFF2-40B4-BE49-F238E27FC236}">
                <a16:creationId xmlns:a16="http://schemas.microsoft.com/office/drawing/2014/main" id="{65AD20AD-5798-8EA9-C006-373D5CCCE8B6}"/>
              </a:ext>
            </a:extLst>
          </p:cNvPr>
          <p:cNvSpPr txBox="1"/>
          <p:nvPr/>
        </p:nvSpPr>
        <p:spPr>
          <a:xfrm>
            <a:off x="1061954" y="1551921"/>
            <a:ext cx="15371488" cy="753348"/>
          </a:xfrm>
          <a:prstGeom prst="rect">
            <a:avLst/>
          </a:prstGeom>
        </p:spPr>
        <p:txBody>
          <a:bodyPr wrap="square" lIns="0" tIns="0" rIns="0" bIns="0" rtlCol="0" anchor="t">
            <a:spAutoFit/>
          </a:bodyPr>
          <a:lstStyle/>
          <a:p>
            <a:pPr algn="ctr">
              <a:lnSpc>
                <a:spcPts val="3000"/>
              </a:lnSpc>
            </a:pPr>
            <a:r>
              <a:rPr lang="en-US" sz="2400">
                <a:solidFill>
                  <a:schemeClr val="bg1"/>
                </a:solidFill>
              </a:rPr>
              <a:t>Software security has transformed from a discretionary technical implementation into a </a:t>
            </a:r>
            <a:r>
              <a:rPr lang="en-US" sz="2400" b="1">
                <a:solidFill>
                  <a:schemeClr val="bg1"/>
                </a:solidFill>
              </a:rPr>
              <a:t>critical pillar of regulatory compliance</a:t>
            </a:r>
            <a:r>
              <a:rPr lang="en-US" sz="2400">
                <a:solidFill>
                  <a:schemeClr val="bg1"/>
                </a:solidFill>
              </a:rPr>
              <a:t> and corporate governance.</a:t>
            </a:r>
            <a:endParaRPr lang="en-US" sz="2400">
              <a:solidFill>
                <a:schemeClr val="bg1"/>
              </a:solidFill>
              <a:latin typeface="Montserrat"/>
              <a:ea typeface="Montserrat"/>
              <a:cs typeface="Montserrat"/>
            </a:endParaRPr>
          </a:p>
        </p:txBody>
      </p:sp>
      <p:pic>
        <p:nvPicPr>
          <p:cNvPr id="4" name="Picture 3" descr="A computer with a blue lock and a shield on the screen&#10;&#10;AI-generated content may be incorrect.">
            <a:extLst>
              <a:ext uri="{FF2B5EF4-FFF2-40B4-BE49-F238E27FC236}">
                <a16:creationId xmlns:a16="http://schemas.microsoft.com/office/drawing/2014/main" id="{70B2721A-E51A-3CBE-AB52-351C314D4EB2}"/>
              </a:ext>
            </a:extLst>
          </p:cNvPr>
          <p:cNvPicPr>
            <a:picLocks noChangeAspect="1"/>
          </p:cNvPicPr>
          <p:nvPr/>
        </p:nvPicPr>
        <p:blipFill>
          <a:blip r:embed="rId4"/>
          <a:stretch>
            <a:fillRect/>
          </a:stretch>
        </p:blipFill>
        <p:spPr>
          <a:xfrm>
            <a:off x="9579560" y="5737894"/>
            <a:ext cx="7019590" cy="4315660"/>
          </a:xfrm>
          <a:prstGeom prst="rect">
            <a:avLst/>
          </a:prstGeom>
        </p:spPr>
      </p:pic>
      <p:sp>
        <p:nvSpPr>
          <p:cNvPr id="3" name="Rectangle: Rounded Corners 2">
            <a:extLst>
              <a:ext uri="{FF2B5EF4-FFF2-40B4-BE49-F238E27FC236}">
                <a16:creationId xmlns:a16="http://schemas.microsoft.com/office/drawing/2014/main" id="{E8713AB0-73E5-1EA2-BC3C-5D3B00E9C1C5}"/>
              </a:ext>
            </a:extLst>
          </p:cNvPr>
          <p:cNvSpPr/>
          <p:nvPr/>
        </p:nvSpPr>
        <p:spPr>
          <a:xfrm>
            <a:off x="472993" y="2894338"/>
            <a:ext cx="17296352" cy="24336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err="1">
                <a:ea typeface="Calibri"/>
                <a:cs typeface="Calibri"/>
              </a:rPr>
              <a:t>Organisations</a:t>
            </a:r>
            <a:r>
              <a:rPr lang="en-US" sz="2400">
                <a:ea typeface="Calibri"/>
                <a:cs typeface="Calibri"/>
              </a:rPr>
              <a:t> now complement </a:t>
            </a:r>
            <a:r>
              <a:rPr lang="en-US" sz="2400" b="1">
                <a:ea typeface="Calibri"/>
                <a:cs typeface="Calibri"/>
              </a:rPr>
              <a:t>CVSS </a:t>
            </a:r>
            <a:r>
              <a:rPr lang="en-US" sz="2400">
                <a:ea typeface="Calibri"/>
                <a:cs typeface="Calibri"/>
              </a:rPr>
              <a:t>with additional metrics and systems, such as the Exploit Prediction Scoring System </a:t>
            </a:r>
            <a:r>
              <a:rPr lang="en-US" sz="2400" b="1">
                <a:ea typeface="Calibri"/>
                <a:cs typeface="Calibri"/>
              </a:rPr>
              <a:t>(EPSS) </a:t>
            </a:r>
            <a:r>
              <a:rPr lang="en-US" sz="2400">
                <a:ea typeface="Calibri"/>
                <a:cs typeface="Calibri"/>
              </a:rPr>
              <a:t>and Risk-Based Vulnerability Management </a:t>
            </a:r>
            <a:r>
              <a:rPr lang="en-US" sz="2400" b="1">
                <a:ea typeface="Calibri"/>
                <a:cs typeface="Calibri"/>
              </a:rPr>
              <a:t>(RBVM). EPSS </a:t>
            </a:r>
            <a:r>
              <a:rPr lang="en-US" sz="2400">
                <a:ea typeface="Calibri"/>
                <a:cs typeface="Calibri"/>
              </a:rPr>
              <a:t>predicts the likelihood of exploiting a vulnerability, while </a:t>
            </a:r>
            <a:r>
              <a:rPr lang="en-US" sz="2400" b="1">
                <a:ea typeface="Calibri"/>
                <a:cs typeface="Calibri"/>
              </a:rPr>
              <a:t>RBVM </a:t>
            </a:r>
            <a:r>
              <a:rPr lang="en-US" sz="2400">
                <a:ea typeface="Calibri"/>
                <a:cs typeface="Calibri"/>
              </a:rPr>
              <a:t>considers business impact, asset criticality, and existing security controls. Additional measures such as Continuous Monitoring, AI-assisted triage, AI-assisted Cross-referencing CVEs with the MITRE ATT&amp;CK® framework links specific technical vulnerabilities to the adversary tactics and techniques they enable. This mapping transforms vulnerability management from a simple patching exercise into a threat-informed strategy, allowing </a:t>
            </a:r>
            <a:r>
              <a:rPr lang="en-US" sz="2400" err="1">
                <a:ea typeface="Calibri"/>
                <a:cs typeface="Calibri"/>
              </a:rPr>
              <a:t>organisations</a:t>
            </a:r>
            <a:r>
              <a:rPr lang="en-US" sz="2400">
                <a:ea typeface="Calibri"/>
                <a:cs typeface="Calibri"/>
              </a:rPr>
              <a:t> to </a:t>
            </a:r>
            <a:r>
              <a:rPr lang="en-US" sz="2400" err="1">
                <a:ea typeface="Calibri"/>
                <a:cs typeface="Calibri"/>
              </a:rPr>
              <a:t>prioritise</a:t>
            </a:r>
            <a:r>
              <a:rPr lang="en-US" sz="2400">
                <a:ea typeface="Calibri"/>
                <a:cs typeface="Calibri"/>
              </a:rPr>
              <a:t> vulnerabilities based on how attackers actually use them.</a:t>
            </a:r>
            <a:endParaRPr lang="en-US" sz="2400"/>
          </a:p>
        </p:txBody>
      </p:sp>
      <p:sp>
        <p:nvSpPr>
          <p:cNvPr id="6" name="Rectangle 5">
            <a:extLst>
              <a:ext uri="{FF2B5EF4-FFF2-40B4-BE49-F238E27FC236}">
                <a16:creationId xmlns:a16="http://schemas.microsoft.com/office/drawing/2014/main" id="{C022BB37-F095-02C4-8AC0-7467B5CEE212}"/>
              </a:ext>
            </a:extLst>
          </p:cNvPr>
          <p:cNvSpPr/>
          <p:nvPr/>
        </p:nvSpPr>
        <p:spPr>
          <a:xfrm>
            <a:off x="636086" y="5818725"/>
            <a:ext cx="8278178" cy="4139089"/>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ea typeface="Calibri"/>
                <a:cs typeface="Calibri"/>
              </a:rPr>
              <a:t>Compensating Controls:</a:t>
            </a:r>
          </a:p>
          <a:p>
            <a:pPr algn="ctr"/>
            <a:endParaRPr lang="en-US" sz="2000">
              <a:ea typeface="Calibri"/>
              <a:cs typeface="Calibri"/>
            </a:endParaRPr>
          </a:p>
          <a:p>
            <a:pPr algn="ctr"/>
            <a:r>
              <a:rPr lang="en-US" sz="2000">
                <a:ea typeface="Calibri"/>
                <a:cs typeface="Calibri"/>
              </a:rPr>
              <a:t>Vulnerability &amp; Patch Management</a:t>
            </a:r>
          </a:p>
          <a:p>
            <a:pPr algn="ctr"/>
            <a:r>
              <a:rPr lang="en-US" sz="2000">
                <a:ea typeface="Calibri"/>
                <a:cs typeface="Calibri"/>
              </a:rPr>
              <a:t>Automated Scanning: </a:t>
            </a:r>
          </a:p>
          <a:p>
            <a:pPr algn="ctr"/>
            <a:r>
              <a:rPr lang="en-US" sz="2000">
                <a:ea typeface="Calibri"/>
                <a:cs typeface="Calibri"/>
              </a:rPr>
              <a:t>Zero-Day Readiness:</a:t>
            </a:r>
          </a:p>
          <a:p>
            <a:pPr algn="ctr"/>
            <a:r>
              <a:rPr lang="en-US" sz="2000">
                <a:ea typeface="Calibri"/>
                <a:cs typeface="Calibri"/>
              </a:rPr>
              <a:t>Preventive Controls</a:t>
            </a:r>
          </a:p>
          <a:p>
            <a:pPr algn="ctr"/>
            <a:r>
              <a:rPr lang="en-US" sz="2000">
                <a:ea typeface="Calibri"/>
                <a:cs typeface="Calibri"/>
              </a:rPr>
              <a:t>Deploy from golden images across all workstations and servers </a:t>
            </a:r>
          </a:p>
          <a:p>
            <a:pPr algn="ctr"/>
            <a:r>
              <a:rPr lang="en-US" sz="2000">
                <a:ea typeface="Calibri"/>
                <a:cs typeface="Calibri"/>
              </a:rPr>
              <a:t>Antivirus </a:t>
            </a:r>
          </a:p>
          <a:p>
            <a:pPr algn="ctr"/>
            <a:r>
              <a:rPr lang="en-US" sz="2000">
                <a:ea typeface="Calibri"/>
                <a:cs typeface="Calibri"/>
              </a:rPr>
              <a:t>Identity and Access Management (IAM)</a:t>
            </a:r>
          </a:p>
          <a:p>
            <a:pPr algn="ctr"/>
            <a:r>
              <a:rPr lang="en-US" sz="2000">
                <a:ea typeface="Calibri"/>
                <a:cs typeface="Calibri"/>
              </a:rPr>
              <a:t>Privilege Access Management (PAM)</a:t>
            </a:r>
          </a:p>
          <a:p>
            <a:pPr algn="ctr"/>
            <a:r>
              <a:rPr lang="en-US" sz="2000">
                <a:ea typeface="Calibri"/>
                <a:cs typeface="Calibri"/>
              </a:rPr>
              <a:t>Zero-Trust Technologies</a:t>
            </a:r>
            <a:endParaRPr lang="en-US" sz="2000">
              <a:solidFill>
                <a:srgbClr val="4F81BD"/>
              </a:solidFill>
              <a:ea typeface="Calibri"/>
              <a:cs typeface="Calibri"/>
            </a:endParaRPr>
          </a:p>
          <a:p>
            <a:pPr algn="ctr"/>
            <a:r>
              <a:rPr lang="en-US" sz="2000">
                <a:ea typeface="Calibri"/>
                <a:cs typeface="Calibri"/>
              </a:rPr>
              <a:t>MFA &amp; Push Notifications</a:t>
            </a:r>
            <a:endParaRPr lang="en-US" sz="2000">
              <a:solidFill>
                <a:schemeClr val="bg2">
                  <a:lumMod val="25000"/>
                </a:schemeClr>
              </a:solidFill>
              <a:ea typeface="Calibri"/>
              <a:cs typeface="Calibri"/>
            </a:endParaRPr>
          </a:p>
          <a:p>
            <a:pPr algn="ctr"/>
            <a:r>
              <a:rPr lang="en-US" sz="2000">
                <a:ea typeface="Calibri"/>
                <a:cs typeface="Calibri"/>
              </a:rPr>
              <a:t>Role-Based Access Control (RBAC)</a:t>
            </a:r>
            <a:endParaRPr lang="en-US" sz="2000"/>
          </a:p>
        </p:txBody>
      </p:sp>
    </p:spTree>
    <p:extLst>
      <p:ext uri="{BB962C8B-B14F-4D97-AF65-F5344CB8AC3E}">
        <p14:creationId xmlns:p14="http://schemas.microsoft.com/office/powerpoint/2010/main" val="1248554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910FB1A1-F6DB-7403-93F0-F8ACCC541F6E}"/>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6B08AA93-1F3D-A1F0-AE2A-B8CD0B92BDB9}"/>
              </a:ext>
            </a:extLst>
          </p:cNvPr>
          <p:cNvSpPr txBox="1"/>
          <p:nvPr/>
        </p:nvSpPr>
        <p:spPr>
          <a:xfrm>
            <a:off x="710071" y="237906"/>
            <a:ext cx="15876294" cy="1917063"/>
          </a:xfrm>
          <a:prstGeom prst="rect">
            <a:avLst/>
          </a:prstGeom>
        </p:spPr>
        <p:txBody>
          <a:bodyPr wrap="square" lIns="0" tIns="0" rIns="0" bIns="0" rtlCol="0" anchor="t">
            <a:spAutoFit/>
          </a:bodyPr>
          <a:lstStyle/>
          <a:p>
            <a:pPr algn="ctr"/>
            <a:r>
              <a:rPr lang="en-ZA" sz="6600" b="1">
                <a:solidFill>
                  <a:srgbClr val="FFFFFF"/>
                </a:solidFill>
                <a:latin typeface="Montserrat Bold"/>
              </a:rPr>
              <a:t>Conclusion</a:t>
            </a:r>
          </a:p>
          <a:p>
            <a:pPr algn="ctr">
              <a:lnSpc>
                <a:spcPts val="6998"/>
              </a:lnSpc>
            </a:pPr>
            <a:endParaRPr lang="en-ZA" sz="7200" b="1">
              <a:solidFill>
                <a:srgbClr val="FFFFFF"/>
              </a:solidFill>
              <a:latin typeface="Montserrat Bold"/>
              <a:ea typeface="Montserrat Bold"/>
              <a:cs typeface="Montserrat Bold"/>
            </a:endParaRPr>
          </a:p>
        </p:txBody>
      </p:sp>
      <p:sp>
        <p:nvSpPr>
          <p:cNvPr id="12" name="Rectangle: Rounded Corners 11">
            <a:extLst>
              <a:ext uri="{FF2B5EF4-FFF2-40B4-BE49-F238E27FC236}">
                <a16:creationId xmlns:a16="http://schemas.microsoft.com/office/drawing/2014/main" id="{F1476F1F-58B9-BE56-FAF2-A8FB42584CAD}"/>
              </a:ext>
            </a:extLst>
          </p:cNvPr>
          <p:cNvSpPr/>
          <p:nvPr/>
        </p:nvSpPr>
        <p:spPr>
          <a:xfrm>
            <a:off x="282215" y="1488328"/>
            <a:ext cx="13104787" cy="8007935"/>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r>
              <a:rPr lang="en-US" sz="2400" b="1"/>
              <a:t>CVSS Limitations</a:t>
            </a:r>
            <a:endParaRPr lang="en-US" sz="2400" b="1">
              <a:ea typeface="Calibri"/>
              <a:cs typeface="Calibri"/>
            </a:endParaRPr>
          </a:p>
          <a:p>
            <a:endParaRPr lang="en-US" sz="2000" b="1">
              <a:ea typeface="Calibri"/>
              <a:cs typeface="Calibri"/>
            </a:endParaRPr>
          </a:p>
          <a:p>
            <a:pPr algn="l"/>
            <a:r>
              <a:rPr lang="en-US" sz="2000"/>
              <a:t>The Common Vulnerability Scoring System (CVSS) has several limitations that organisations need to consider:</a:t>
            </a:r>
            <a:endParaRPr lang="en-US" sz="2000">
              <a:ea typeface="Calibri"/>
              <a:cs typeface="Calibri"/>
            </a:endParaRPr>
          </a:p>
          <a:p>
            <a:endParaRPr lang="en-US" sz="2000"/>
          </a:p>
          <a:p>
            <a:pPr marL="228600" indent="-228600">
              <a:buFont typeface=""/>
              <a:buChar char="•"/>
            </a:pPr>
            <a:r>
              <a:rPr lang="en-US" sz="2000" b="1"/>
              <a:t>Limited Context</a:t>
            </a:r>
            <a:r>
              <a:rPr lang="en-US" sz="2000"/>
              <a:t>: CVSS scores do not account for the specific risks to your organisation. They tell you if a vulnerability is dangerous, but not if it is dangerous to you.</a:t>
            </a:r>
            <a:endParaRPr lang="en-US" sz="2000">
              <a:ea typeface="Calibri"/>
              <a:cs typeface="Calibri"/>
            </a:endParaRPr>
          </a:p>
          <a:p>
            <a:endParaRPr lang="en-US" sz="2000">
              <a:ea typeface="Calibri"/>
              <a:cs typeface="Calibri"/>
            </a:endParaRPr>
          </a:p>
          <a:p>
            <a:pPr marL="228600" indent="-228600" algn="l">
              <a:buFont typeface=""/>
              <a:buChar char="•"/>
            </a:pPr>
            <a:r>
              <a:rPr lang="en-US" sz="2000" b="1"/>
              <a:t>Subjectivity</a:t>
            </a:r>
            <a:r>
              <a:rPr lang="en-US" sz="2000"/>
              <a:t>: CVSS scores can vary depending on the context, leading to inconsistencies.</a:t>
            </a:r>
            <a:endParaRPr lang="en-US" sz="2000">
              <a:ea typeface="Calibri"/>
              <a:cs typeface="Calibri"/>
            </a:endParaRPr>
          </a:p>
          <a:p>
            <a:endParaRPr lang="en-US" sz="2000">
              <a:ea typeface="Calibri"/>
              <a:cs typeface="Calibri"/>
            </a:endParaRPr>
          </a:p>
          <a:p>
            <a:pPr marL="228600" indent="-228600">
              <a:buFont typeface=""/>
              <a:buChar char="•"/>
            </a:pPr>
            <a:r>
              <a:rPr lang="en-US" sz="2000" b="1"/>
              <a:t>Limited Scope</a:t>
            </a:r>
            <a:r>
              <a:rPr lang="en-US" sz="2000"/>
              <a:t>: CVSS does not fully consider the importance of specific assets or existing controls.</a:t>
            </a:r>
            <a:endParaRPr lang="en-US" sz="2000">
              <a:ea typeface="Calibri"/>
              <a:cs typeface="Calibri"/>
            </a:endParaRPr>
          </a:p>
          <a:p>
            <a:endParaRPr lang="en-US" sz="2000">
              <a:ea typeface="Calibri"/>
              <a:cs typeface="Calibri"/>
            </a:endParaRPr>
          </a:p>
          <a:p>
            <a:pPr marL="228600" indent="-228600" algn="l">
              <a:buFont typeface=""/>
              <a:buChar char="•"/>
            </a:pPr>
            <a:r>
              <a:rPr lang="en-US" sz="2000" b="1"/>
              <a:t>Complexity</a:t>
            </a:r>
            <a:r>
              <a:rPr lang="en-US" sz="2000"/>
              <a:t>: The system requires a deep understanding of scoring factors. Understanding how to calculate and interpret CVSS scores requires familiarity with several factors, such as attack vectors, complexity, and impact.</a:t>
            </a:r>
            <a:endParaRPr lang="en-US" sz="2000">
              <a:ea typeface="Calibri"/>
              <a:cs typeface="Calibri"/>
            </a:endParaRPr>
          </a:p>
          <a:p>
            <a:endParaRPr lang="en-US" sz="2000">
              <a:ea typeface="Calibri"/>
              <a:cs typeface="Calibri"/>
            </a:endParaRPr>
          </a:p>
          <a:p>
            <a:pPr marL="228600" indent="-228600" algn="l">
              <a:buFont typeface=""/>
              <a:buChar char="•"/>
            </a:pPr>
            <a:r>
              <a:rPr lang="en-US" sz="2000" b="1"/>
              <a:t>Potential for Oversights</a:t>
            </a:r>
            <a:r>
              <a:rPr lang="en-US" sz="2000"/>
              <a:t>: Relying solely on CVSS scores can lead to missed opportunities to address the most pressing threats.</a:t>
            </a:r>
            <a:endParaRPr lang="en-US" sz="2000">
              <a:ea typeface="Calibri"/>
              <a:cs typeface="Calibri"/>
            </a:endParaRPr>
          </a:p>
          <a:p>
            <a:endParaRPr lang="en-US" sz="2400">
              <a:solidFill>
                <a:schemeClr val="bg1"/>
              </a:solidFill>
              <a:ea typeface="Calibri"/>
              <a:cs typeface="Calibri"/>
            </a:endParaRPr>
          </a:p>
          <a:p>
            <a:r>
              <a:rPr lang="en-US" sz="2400" b="1">
                <a:solidFill>
                  <a:schemeClr val="bg1"/>
                </a:solidFill>
                <a:ea typeface="Calibri"/>
                <a:cs typeface="Calibri"/>
              </a:rPr>
              <a:t>AI Driven Security Technology Considerations:</a:t>
            </a:r>
          </a:p>
          <a:p>
            <a:endParaRPr lang="en-US" sz="2000">
              <a:solidFill>
                <a:schemeClr val="bg1"/>
              </a:solidFill>
              <a:ea typeface="Calibri"/>
              <a:cs typeface="Calibri"/>
            </a:endParaRPr>
          </a:p>
          <a:p>
            <a:pPr marL="228600" indent="-228600">
              <a:buFont typeface=""/>
              <a:buChar char="•"/>
            </a:pPr>
            <a:r>
              <a:rPr lang="en-US" sz="2000">
                <a:solidFill>
                  <a:schemeClr val="bg1"/>
                </a:solidFill>
                <a:ea typeface="Calibri"/>
                <a:cs typeface="Calibri"/>
              </a:rPr>
              <a:t>When balanced correctly, AI tools outperform traditional methods in mitigating vulnerabilities. But without governance and skilled interpretation, they risk misclassifying threats or introducing new vulnerabilities.</a:t>
            </a:r>
          </a:p>
          <a:p>
            <a:endParaRPr lang="en-US" sz="2000">
              <a:solidFill>
                <a:schemeClr val="bg1"/>
              </a:solidFill>
              <a:ea typeface="Calibri"/>
              <a:cs typeface="Calibri"/>
            </a:endParaRPr>
          </a:p>
          <a:p>
            <a:pPr marL="228600" indent="-228600">
              <a:buFont typeface=""/>
              <a:buChar char="•"/>
            </a:pPr>
            <a:r>
              <a:rPr lang="en-US" sz="2000">
                <a:solidFill>
                  <a:schemeClr val="bg1"/>
                </a:solidFill>
                <a:ea typeface="Calibri"/>
                <a:cs typeface="Calibri"/>
              </a:rPr>
              <a:t>For South African organisations, this balance is critical to ensure compliance with POPIA and other regulatory frameworks.</a:t>
            </a:r>
            <a:endParaRPr lang="en-US">
              <a:solidFill>
                <a:schemeClr val="bg1"/>
              </a:solidFill>
            </a:endParaRPr>
          </a:p>
          <a:p>
            <a:pPr marL="228600" lvl="1" indent="-228600">
              <a:buFont typeface=""/>
              <a:buChar char="•"/>
            </a:pPr>
            <a:endParaRPr lang="en-US" sz="2400" i="1">
              <a:solidFill>
                <a:schemeClr val="bg1"/>
              </a:solidFill>
              <a:ea typeface="Calibri"/>
              <a:cs typeface="Calibri"/>
            </a:endParaRPr>
          </a:p>
        </p:txBody>
      </p:sp>
      <p:pic>
        <p:nvPicPr>
          <p:cNvPr id="5" name="Picture 4" descr="A person with tattoos on his arms&#10;&#10;AI-generated content may be incorrect.">
            <a:extLst>
              <a:ext uri="{FF2B5EF4-FFF2-40B4-BE49-F238E27FC236}">
                <a16:creationId xmlns:a16="http://schemas.microsoft.com/office/drawing/2014/main" id="{C1D25008-16DF-7A8E-ABEA-AA49BD1BA119}"/>
              </a:ext>
            </a:extLst>
          </p:cNvPr>
          <p:cNvPicPr>
            <a:picLocks noChangeAspect="1"/>
          </p:cNvPicPr>
          <p:nvPr/>
        </p:nvPicPr>
        <p:blipFill>
          <a:blip r:embed="rId3"/>
          <a:stretch>
            <a:fillRect/>
          </a:stretch>
        </p:blipFill>
        <p:spPr>
          <a:xfrm>
            <a:off x="13736052" y="2570760"/>
            <a:ext cx="3769896" cy="4929439"/>
          </a:xfrm>
          <a:prstGeom prst="rect">
            <a:avLst/>
          </a:prstGeom>
        </p:spPr>
      </p:pic>
    </p:spTree>
    <p:extLst>
      <p:ext uri="{BB962C8B-B14F-4D97-AF65-F5344CB8AC3E}">
        <p14:creationId xmlns:p14="http://schemas.microsoft.com/office/powerpoint/2010/main" val="609128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552196D5-392A-58C4-F3BC-E601FCFA7E29}"/>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37909F1C-BE2A-5C7F-5B24-9A008813B101}"/>
              </a:ext>
            </a:extLst>
          </p:cNvPr>
          <p:cNvSpPr/>
          <p:nvPr/>
        </p:nvSpPr>
        <p:spPr>
          <a:xfrm>
            <a:off x="8363425" y="2811802"/>
            <a:ext cx="8853630" cy="4639093"/>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9600" b="1"/>
              <a:t>Q</a:t>
            </a:r>
            <a:r>
              <a:rPr lang="en-US" sz="9600" b="1">
                <a:solidFill>
                  <a:schemeClr val="bg1"/>
                </a:solidFill>
                <a:ea typeface="Calibri"/>
                <a:cs typeface="Calibri"/>
              </a:rPr>
              <a:t> &amp; A</a:t>
            </a:r>
            <a:endParaRPr lang="en-US" sz="9600">
              <a:solidFill>
                <a:schemeClr val="bg1"/>
              </a:solidFill>
              <a:ea typeface="Calibri"/>
              <a:cs typeface="Calibri"/>
            </a:endParaRPr>
          </a:p>
        </p:txBody>
      </p:sp>
      <p:pic>
        <p:nvPicPr>
          <p:cNvPr id="4" name="Picture 3" descr="A person in a black robe&#10;&#10;AI-generated content may be incorrect.">
            <a:extLst>
              <a:ext uri="{FF2B5EF4-FFF2-40B4-BE49-F238E27FC236}">
                <a16:creationId xmlns:a16="http://schemas.microsoft.com/office/drawing/2014/main" id="{6772082A-97E8-7C6E-DF38-597A5FD62297}"/>
              </a:ext>
            </a:extLst>
          </p:cNvPr>
          <p:cNvPicPr>
            <a:picLocks noChangeAspect="1"/>
          </p:cNvPicPr>
          <p:nvPr/>
        </p:nvPicPr>
        <p:blipFill>
          <a:blip r:embed="rId3"/>
          <a:stretch>
            <a:fillRect/>
          </a:stretch>
        </p:blipFill>
        <p:spPr>
          <a:xfrm>
            <a:off x="717884" y="2428374"/>
            <a:ext cx="7226969" cy="5410200"/>
          </a:xfrm>
          <a:prstGeom prst="rect">
            <a:avLst/>
          </a:prstGeom>
        </p:spPr>
      </p:pic>
    </p:spTree>
    <p:extLst>
      <p:ext uri="{BB962C8B-B14F-4D97-AF65-F5344CB8AC3E}">
        <p14:creationId xmlns:p14="http://schemas.microsoft.com/office/powerpoint/2010/main" val="379744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a:extLst>
            <a:ext uri="{FF2B5EF4-FFF2-40B4-BE49-F238E27FC236}">
              <a16:creationId xmlns:a16="http://schemas.microsoft.com/office/drawing/2014/main" id="{D9446AC7-62D0-8D77-80F6-2F243A9CEBE1}"/>
            </a:ext>
          </a:extLst>
        </p:cNvPr>
        <p:cNvGrpSpPr/>
        <p:nvPr/>
      </p:nvGrpSpPr>
      <p:grpSpPr>
        <a:xfrm>
          <a:off x="0" y="0"/>
          <a:ext cx="0" cy="0"/>
          <a:chOff x="0" y="0"/>
          <a:chExt cx="0" cy="0"/>
        </a:xfrm>
      </p:grpSpPr>
      <p:sp>
        <p:nvSpPr>
          <p:cNvPr id="15" name="Freeform 15">
            <a:extLst>
              <a:ext uri="{FF2B5EF4-FFF2-40B4-BE49-F238E27FC236}">
                <a16:creationId xmlns:a16="http://schemas.microsoft.com/office/drawing/2014/main" id="{3A67A130-F4B0-E349-7FA6-8ACB70456768}"/>
              </a:ext>
            </a:extLst>
          </p:cNvPr>
          <p:cNvSpPr/>
          <p:nvPr/>
        </p:nvSpPr>
        <p:spPr>
          <a:xfrm rot="16199638">
            <a:off x="11258251" y="9589"/>
            <a:ext cx="7020416" cy="7001981"/>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6" name="TextBox 16">
            <a:extLst>
              <a:ext uri="{FF2B5EF4-FFF2-40B4-BE49-F238E27FC236}">
                <a16:creationId xmlns:a16="http://schemas.microsoft.com/office/drawing/2014/main" id="{E45C293B-708E-7B84-6F81-98A32FC276FB}"/>
              </a:ext>
            </a:extLst>
          </p:cNvPr>
          <p:cNvSpPr txBox="1"/>
          <p:nvPr/>
        </p:nvSpPr>
        <p:spPr>
          <a:xfrm>
            <a:off x="710071" y="-2726"/>
            <a:ext cx="15876294" cy="1015663"/>
          </a:xfrm>
          <a:prstGeom prst="rect">
            <a:avLst/>
          </a:prstGeom>
        </p:spPr>
        <p:txBody>
          <a:bodyPr wrap="square" lIns="0" tIns="0" rIns="0" bIns="0" rtlCol="0" anchor="t">
            <a:spAutoFit/>
          </a:bodyPr>
          <a:lstStyle/>
          <a:p>
            <a:pPr algn="ctr"/>
            <a:r>
              <a:rPr lang="en-ZA" sz="6600" b="1">
                <a:solidFill>
                  <a:srgbClr val="FFFFFF"/>
                </a:solidFill>
                <a:latin typeface="Montserrat Bold"/>
              </a:rPr>
              <a:t>References</a:t>
            </a:r>
            <a:endParaRPr lang="en-US"/>
          </a:p>
        </p:txBody>
      </p:sp>
      <p:sp>
        <p:nvSpPr>
          <p:cNvPr id="3" name="TextBox 2">
            <a:extLst>
              <a:ext uri="{FF2B5EF4-FFF2-40B4-BE49-F238E27FC236}">
                <a16:creationId xmlns:a16="http://schemas.microsoft.com/office/drawing/2014/main" id="{3A125CDE-D41C-7E3F-0544-10B2F3CB1EB4}"/>
              </a:ext>
            </a:extLst>
          </p:cNvPr>
          <p:cNvSpPr txBox="1"/>
          <p:nvPr/>
        </p:nvSpPr>
        <p:spPr>
          <a:xfrm>
            <a:off x="892479" y="2379945"/>
            <a:ext cx="6748396" cy="62473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Rectangle: Rounded Corners 11">
            <a:extLst>
              <a:ext uri="{FF2B5EF4-FFF2-40B4-BE49-F238E27FC236}">
                <a16:creationId xmlns:a16="http://schemas.microsoft.com/office/drawing/2014/main" id="{23CD4704-AC3D-FF85-29F4-57E1BB2DD496}"/>
              </a:ext>
            </a:extLst>
          </p:cNvPr>
          <p:cNvSpPr/>
          <p:nvPr/>
        </p:nvSpPr>
        <p:spPr>
          <a:xfrm>
            <a:off x="895491" y="1445951"/>
            <a:ext cx="16502035" cy="8512596"/>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buFont typeface="Arial"/>
              <a:buChar char="•"/>
            </a:pPr>
            <a:r>
              <a:rPr lang="en-US" sz="3200">
                <a:ea typeface="+mn-lt"/>
                <a:cs typeface="+mn-lt"/>
              </a:rPr>
              <a:t>CVE. (</a:t>
            </a:r>
            <a:r>
              <a:rPr lang="en-US" sz="3200" err="1">
                <a:ea typeface="+mn-lt"/>
                <a:cs typeface="+mn-lt"/>
              </a:rPr>
              <a:t>n.d</a:t>
            </a:r>
            <a:r>
              <a:rPr lang="en-US" sz="3200">
                <a:ea typeface="+mn-lt"/>
                <a:cs typeface="+mn-lt"/>
              </a:rPr>
              <a:t>). Common Vulnerabilities and Exposures</a:t>
            </a:r>
            <a:r>
              <a:rPr lang="en-US" sz="3200" i="1">
                <a:ea typeface="+mn-lt"/>
                <a:cs typeface="+mn-lt"/>
              </a:rPr>
              <a:t> </a:t>
            </a:r>
            <a:r>
              <a:rPr lang="en-US" sz="3200">
                <a:ea typeface="+mn-lt"/>
                <a:cs typeface="+mn-lt"/>
              </a:rPr>
              <a:t>(CVE)</a:t>
            </a:r>
            <a:r>
              <a:rPr lang="en-US" sz="3200" i="1">
                <a:ea typeface="+mn-lt"/>
                <a:cs typeface="+mn-lt"/>
              </a:rPr>
              <a:t>. </a:t>
            </a:r>
            <a:r>
              <a:rPr lang="en-US" sz="3200">
                <a:ea typeface="+mn-lt"/>
                <a:cs typeface="+mn-lt"/>
              </a:rPr>
              <a:t>https://www.cve.org/</a:t>
            </a:r>
            <a:endParaRPr lang="en-US" sz="3200" b="1">
              <a:ea typeface="Calibri"/>
              <a:cs typeface="Calibri"/>
            </a:endParaRPr>
          </a:p>
          <a:p>
            <a:pPr marL="342900" indent="-342900">
              <a:buFont typeface="Arial"/>
              <a:buChar char="•"/>
            </a:pPr>
            <a:r>
              <a:rPr lang="en-US" sz="3200">
                <a:solidFill>
                  <a:schemeClr val="bg1"/>
                </a:solidFill>
                <a:ea typeface="+mn-lt"/>
                <a:cs typeface="+mn-lt"/>
              </a:rPr>
              <a:t>National Institution of Standards and Technology. (</a:t>
            </a:r>
            <a:r>
              <a:rPr lang="en-US" sz="3200" err="1">
                <a:solidFill>
                  <a:schemeClr val="bg1"/>
                </a:solidFill>
                <a:ea typeface="+mn-lt"/>
                <a:cs typeface="+mn-lt"/>
              </a:rPr>
              <a:t>n.d</a:t>
            </a:r>
            <a:r>
              <a:rPr lang="en-US" sz="3200">
                <a:solidFill>
                  <a:schemeClr val="bg1"/>
                </a:solidFill>
                <a:ea typeface="+mn-lt"/>
                <a:cs typeface="+mn-lt"/>
              </a:rPr>
              <a:t>). National Vulnerability Database. </a:t>
            </a:r>
            <a:r>
              <a:rPr lang="en-US" sz="3200">
                <a:solidFill>
                  <a:schemeClr val="bg1"/>
                </a:solidFill>
                <a:ea typeface="+mn-lt"/>
                <a:cs typeface="+mn-lt"/>
                <a:hlinkClick r:id="rId4">
                  <a:extLst>
                    <a:ext uri="{A12FA001-AC4F-418D-AE19-62706E023703}">
                      <ahyp:hlinkClr xmlns:ahyp="http://schemas.microsoft.com/office/drawing/2018/hyperlinkcolor" val="tx"/>
                    </a:ext>
                  </a:extLst>
                </a:hlinkClick>
              </a:rPr>
              <a:t>https://nvd.nist.gov/</a:t>
            </a:r>
            <a:r>
              <a:rPr lang="en-US" sz="3200">
                <a:solidFill>
                  <a:schemeClr val="bg1"/>
                </a:solidFill>
                <a:ea typeface="+mn-lt"/>
                <a:cs typeface="+mn-lt"/>
              </a:rPr>
              <a:t> </a:t>
            </a:r>
          </a:p>
          <a:p>
            <a:pPr marL="342900" indent="-342900">
              <a:buFont typeface="Arial"/>
              <a:buChar char="•"/>
            </a:pPr>
            <a:r>
              <a:rPr lang="en-US" sz="3200">
                <a:solidFill>
                  <a:schemeClr val="bg1"/>
                </a:solidFill>
                <a:ea typeface="+mn-lt"/>
                <a:cs typeface="+mn-lt"/>
              </a:rPr>
              <a:t>Tenable, Inc (</a:t>
            </a:r>
            <a:r>
              <a:rPr lang="en-US" sz="3200" err="1">
                <a:solidFill>
                  <a:schemeClr val="bg1"/>
                </a:solidFill>
                <a:ea typeface="+mn-lt"/>
                <a:cs typeface="+mn-lt"/>
              </a:rPr>
              <a:t>n.d</a:t>
            </a:r>
            <a:r>
              <a:rPr lang="en-US" sz="3200">
                <a:solidFill>
                  <a:schemeClr val="bg1"/>
                </a:solidFill>
                <a:ea typeface="+mn-lt"/>
                <a:cs typeface="+mn-lt"/>
              </a:rPr>
              <a:t>). </a:t>
            </a:r>
            <a:r>
              <a:rPr lang="en-US" sz="3200">
                <a:solidFill>
                  <a:schemeClr val="bg1"/>
                </a:solidFill>
              </a:rPr>
              <a:t>Mitigate business-impacting cyber risk with Tenable One.</a:t>
            </a:r>
            <a:r>
              <a:rPr lang="en-US" sz="3200" i="1">
                <a:solidFill>
                  <a:schemeClr val="bg1"/>
                </a:solidFill>
              </a:rPr>
              <a:t> </a:t>
            </a:r>
            <a:r>
              <a:rPr lang="en-US" sz="3200">
                <a:solidFill>
                  <a:schemeClr val="bg1"/>
                </a:solidFill>
                <a:hlinkClick r:id="rId5">
                  <a:extLst>
                    <a:ext uri="{A12FA001-AC4F-418D-AE19-62706E023703}">
                      <ahyp:hlinkClr xmlns:ahyp="http://schemas.microsoft.com/office/drawing/2018/hyperlinkcolor" val="tx"/>
                    </a:ext>
                  </a:extLst>
                </a:hlinkClick>
              </a:rPr>
              <a:t>https</a:t>
            </a:r>
            <a:r>
              <a:rPr lang="en-US" sz="3200">
                <a:solidFill>
                  <a:schemeClr val="bg1"/>
                </a:solidFill>
                <a:ea typeface="+mn-lt"/>
                <a:cs typeface="+mn-lt"/>
                <a:hlinkClick r:id="rId5">
                  <a:extLst>
                    <a:ext uri="{A12FA001-AC4F-418D-AE19-62706E023703}">
                      <ahyp:hlinkClr xmlns:ahyp="http://schemas.microsoft.com/office/drawing/2018/hyperlinkcolor" val="tx"/>
                    </a:ext>
                  </a:extLst>
                </a:hlinkClick>
              </a:rPr>
              <a:t>://www.tenable.com/</a:t>
            </a:r>
            <a:r>
              <a:rPr lang="en-US" sz="3200">
                <a:solidFill>
                  <a:schemeClr val="bg1"/>
                </a:solidFill>
                <a:ea typeface="+mn-lt"/>
                <a:cs typeface="+mn-lt"/>
              </a:rPr>
              <a:t> </a:t>
            </a:r>
          </a:p>
          <a:p>
            <a:pPr marL="342900" indent="-342900">
              <a:buFont typeface="Arial"/>
              <a:buChar char="•"/>
            </a:pPr>
            <a:r>
              <a:rPr lang="en-US" sz="3200">
                <a:solidFill>
                  <a:schemeClr val="bg1"/>
                </a:solidFill>
                <a:ea typeface="+mn-lt"/>
                <a:cs typeface="+mn-lt"/>
              </a:rPr>
              <a:t>National Institute of Standards and Technology (2022) Guide to Enterprise Patch Management Planning: Preventive Maintenance for Technology.  ??for enterprise?? </a:t>
            </a:r>
            <a:r>
              <a:rPr lang="en-US" sz="3200">
                <a:solidFill>
                  <a:schemeClr val="bg1"/>
                </a:solidFill>
                <a:ea typeface="+mn-lt"/>
                <a:cs typeface="+mn-lt"/>
                <a:hlinkClick r:id="rId6">
                  <a:extLst>
                    <a:ext uri="{A12FA001-AC4F-418D-AE19-62706E023703}">
                      <ahyp:hlinkClr xmlns:ahyp="http://schemas.microsoft.com/office/drawing/2018/hyperlinkcolor" val="tx"/>
                    </a:ext>
                  </a:extLst>
                </a:hlinkClick>
              </a:rPr>
              <a:t>https://doi.org/10.6028/NIST.SP.800-40r4</a:t>
            </a:r>
          </a:p>
          <a:p>
            <a:pPr marL="342900" indent="-342900">
              <a:buFont typeface="Arial"/>
              <a:buChar char="•"/>
            </a:pPr>
            <a:r>
              <a:rPr lang="en-US" sz="3200">
                <a:solidFill>
                  <a:schemeClr val="bg1"/>
                </a:solidFill>
                <a:ea typeface="+mn-lt"/>
                <a:cs typeface="+mn-lt"/>
              </a:rPr>
              <a:t>National Institute of Standards and Technology (n.d.). Computer security resource center (CSRC). </a:t>
            </a:r>
            <a:r>
              <a:rPr lang="en-US" sz="3200">
                <a:solidFill>
                  <a:schemeClr val="bg1"/>
                </a:solidFill>
                <a:ea typeface="+mn-lt"/>
                <a:cs typeface="+mn-lt"/>
                <a:hlinkClick r:id="rId7">
                  <a:extLst>
                    <a:ext uri="{A12FA001-AC4F-418D-AE19-62706E023703}">
                      <ahyp:hlinkClr xmlns:ahyp="http://schemas.microsoft.com/office/drawing/2018/hyperlinkcolor" val="tx"/>
                    </a:ext>
                  </a:extLst>
                </a:hlinkClick>
              </a:rPr>
              <a:t>https://csrc.nist.gov/</a:t>
            </a:r>
            <a:r>
              <a:rPr lang="en-US" sz="3200">
                <a:solidFill>
                  <a:schemeClr val="bg1"/>
                </a:solidFill>
                <a:ea typeface="+mn-lt"/>
                <a:cs typeface="+mn-lt"/>
              </a:rPr>
              <a:t> </a:t>
            </a:r>
            <a:endParaRPr lang="en-US">
              <a:solidFill>
                <a:schemeClr val="bg1"/>
              </a:solidFill>
            </a:endParaRPr>
          </a:p>
          <a:p>
            <a:pPr marL="342900" indent="-342900">
              <a:buFont typeface="Arial"/>
              <a:buChar char="•"/>
            </a:pPr>
            <a:r>
              <a:rPr lang="en-US" sz="3200">
                <a:solidFill>
                  <a:schemeClr val="bg1"/>
                </a:solidFill>
                <a:ea typeface="+mn-lt"/>
                <a:cs typeface="+mn-lt"/>
              </a:rPr>
              <a:t>City St George University of London (</a:t>
            </a:r>
            <a:r>
              <a:rPr lang="en-US" sz="3200" err="1">
                <a:solidFill>
                  <a:schemeClr val="bg1"/>
                </a:solidFill>
                <a:ea typeface="+mn-lt"/>
                <a:cs typeface="+mn-lt"/>
              </a:rPr>
              <a:t>n.d</a:t>
            </a:r>
            <a:r>
              <a:rPr lang="en-US" sz="3200">
                <a:solidFill>
                  <a:schemeClr val="bg1"/>
                </a:solidFill>
                <a:ea typeface="+mn-lt"/>
                <a:cs typeface="+mn-lt"/>
              </a:rPr>
              <a:t>). </a:t>
            </a:r>
            <a:r>
              <a:rPr lang="en-US" sz="3200">
                <a:solidFill>
                  <a:schemeClr val="bg1"/>
                </a:solidFill>
                <a:ea typeface="+mn-lt"/>
                <a:cs typeface="+mn-lt"/>
                <a:hlinkClick r:id="rId8">
                  <a:extLst>
                    <a:ext uri="{A12FA001-AC4F-418D-AE19-62706E023703}">
                      <ahyp:hlinkClr xmlns:ahyp="http://schemas.microsoft.com/office/drawing/2018/hyperlinkcolor" val="tx"/>
                    </a:ext>
                  </a:extLst>
                </a:hlinkClick>
              </a:rPr>
              <a:t>https://technology.online.city.ac.uk/blogs/security-best-practices-in-software-development/</a:t>
            </a:r>
            <a:endParaRPr lang="en-US" sz="3200">
              <a:solidFill>
                <a:schemeClr val="bg1"/>
              </a:solidFill>
              <a:latin typeface="Calibri"/>
              <a:ea typeface="Calibri"/>
              <a:cs typeface="Calibri"/>
              <a:hlinkClick r:id="" action="ppaction://noaction">
                <a:extLst>
                  <a:ext uri="{A12FA001-AC4F-418D-AE19-62706E023703}">
                    <ahyp:hlinkClr xmlns:ahyp="http://schemas.microsoft.com/office/drawing/2018/hyperlinkcolor" val="tx"/>
                  </a:ext>
                </a:extLst>
              </a:hlinkClick>
            </a:endParaRPr>
          </a:p>
          <a:p>
            <a:pPr marL="342900" indent="-342900">
              <a:buFont typeface="Arial"/>
              <a:buChar char="•"/>
            </a:pPr>
            <a:r>
              <a:rPr lang="en-US" sz="3200" err="1">
                <a:solidFill>
                  <a:schemeClr val="bg1"/>
                </a:solidFill>
                <a:ea typeface="+mn-lt"/>
                <a:cs typeface="+mn-lt"/>
              </a:rPr>
              <a:t>StatCounter</a:t>
            </a:r>
            <a:r>
              <a:rPr lang="en-US" sz="3200">
                <a:solidFill>
                  <a:schemeClr val="bg1"/>
                </a:solidFill>
                <a:ea typeface="+mn-lt"/>
                <a:cs typeface="+mn-lt"/>
              </a:rPr>
              <a:t>. (n.d.). Mobile operating system market share in South Africa. </a:t>
            </a:r>
            <a:r>
              <a:rPr lang="en-US" sz="3200">
                <a:solidFill>
                  <a:schemeClr val="bg1"/>
                </a:solidFill>
                <a:ea typeface="+mn-lt"/>
                <a:cs typeface="+mn-lt"/>
                <a:hlinkClick r:id="" action="ppaction://noaction">
                  <a:extLst>
                    <a:ext uri="{A12FA001-AC4F-418D-AE19-62706E023703}">
                      <ahyp:hlinkClr xmlns:ahyp="http://schemas.microsoft.com/office/drawing/2018/hyperlinkcolor" val="tx"/>
                    </a:ext>
                  </a:extLst>
                </a:hlinkClick>
              </a:rPr>
              <a:t>https://gs.statcounter.com/os-market-share/mobile/south-africa</a:t>
            </a:r>
            <a:r>
              <a:rPr lang="en-US" sz="3200">
                <a:solidFill>
                  <a:schemeClr val="bg1"/>
                </a:solidFill>
                <a:ea typeface="+mn-lt"/>
                <a:cs typeface="+mn-lt"/>
              </a:rPr>
              <a:t> </a:t>
            </a:r>
            <a:endParaRPr lang="en-US" sz="3200">
              <a:solidFill>
                <a:schemeClr val="bg1"/>
              </a:solidFill>
              <a:ea typeface="Calibri"/>
              <a:cs typeface="Calibri"/>
            </a:endParaRPr>
          </a:p>
          <a:p>
            <a:pPr marL="342900" indent="-342900">
              <a:buFont typeface="Arial"/>
              <a:buChar char="•"/>
            </a:pPr>
            <a:r>
              <a:rPr lang="en-US" sz="3200">
                <a:solidFill>
                  <a:schemeClr val="bg1"/>
                </a:solidFill>
                <a:ea typeface="Calibri"/>
                <a:cs typeface="Calibri"/>
              </a:rPr>
              <a:t> MITRE. (n.d.). MITRE ATT&amp;CK. https://attack.mitre.org/</a:t>
            </a:r>
          </a:p>
          <a:p>
            <a:pPr marL="228600" lvl="1" indent="-228600">
              <a:buFont typeface=""/>
              <a:buChar char="•"/>
            </a:pPr>
            <a:endParaRPr lang="en-US" sz="2400" i="1">
              <a:solidFill>
                <a:schemeClr val="bg1"/>
              </a:solidFill>
              <a:ea typeface="Calibri"/>
              <a:cs typeface="Calibri"/>
            </a:endParaRPr>
          </a:p>
        </p:txBody>
      </p:sp>
    </p:spTree>
    <p:extLst>
      <p:ext uri="{BB962C8B-B14F-4D97-AF65-F5344CB8AC3E}">
        <p14:creationId xmlns:p14="http://schemas.microsoft.com/office/powerpoint/2010/main" val="3322590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12</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Yvershen Chetty</dc:creator>
  <cp:revision>4</cp:revision>
  <dcterms:created xsi:type="dcterms:W3CDTF">2006-08-16T00:00:00Z</dcterms:created>
  <dcterms:modified xsi:type="dcterms:W3CDTF">2026-04-01T20:59:24Z</dcterms:modified>
  <dc:identifier>DAHFceLxrxI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b4d637-87a6-462c-8c97-71e915f98b6b_Enabled">
    <vt:lpwstr>true</vt:lpwstr>
  </property>
  <property fmtid="{D5CDD505-2E9C-101B-9397-08002B2CF9AE}" pid="3" name="MSIP_Label_3cb4d637-87a6-462c-8c97-71e915f98b6b_SetDate">
    <vt:lpwstr>2026-03-30T20:37:32Z</vt:lpwstr>
  </property>
  <property fmtid="{D5CDD505-2E9C-101B-9397-08002B2CF9AE}" pid="4" name="MSIP_Label_3cb4d637-87a6-462c-8c97-71e915f98b6b_Method">
    <vt:lpwstr>Privileged</vt:lpwstr>
  </property>
  <property fmtid="{D5CDD505-2E9C-101B-9397-08002B2CF9AE}" pid="5" name="MSIP_Label_3cb4d637-87a6-462c-8c97-71e915f98b6b_Name">
    <vt:lpwstr>Public</vt:lpwstr>
  </property>
  <property fmtid="{D5CDD505-2E9C-101B-9397-08002B2CF9AE}" pid="6" name="MSIP_Label_3cb4d637-87a6-462c-8c97-71e915f98b6b_SiteId">
    <vt:lpwstr>92454335-564e-4ccf-b0b0-24445b8c03f7</vt:lpwstr>
  </property>
  <property fmtid="{D5CDD505-2E9C-101B-9397-08002B2CF9AE}" pid="7" name="MSIP_Label_3cb4d637-87a6-462c-8c97-71e915f98b6b_ActionId">
    <vt:lpwstr>2f5182ad-5661-465d-91d5-e728e5f011c9</vt:lpwstr>
  </property>
  <property fmtid="{D5CDD505-2E9C-101B-9397-08002B2CF9AE}" pid="8" name="MSIP_Label_3cb4d637-87a6-462c-8c97-71e915f98b6b_ContentBits">
    <vt:lpwstr>0</vt:lpwstr>
  </property>
  <property fmtid="{D5CDD505-2E9C-101B-9397-08002B2CF9AE}" pid="9" name="MSIP_Label_3cb4d637-87a6-462c-8c97-71e915f98b6b_Tag">
    <vt:lpwstr>10, 0, 1, 1</vt:lpwstr>
  </property>
</Properties>
</file>